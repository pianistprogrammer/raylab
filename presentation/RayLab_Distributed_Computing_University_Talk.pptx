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b54369b9bc4a87" /><Relationship Type="http://schemas.openxmlformats.org/officeDocument/2006/relationships/extended-properties" Target="/docProps/app.xml" Id="Rd4aa83964ecd4927" /><Relationship Type="http://schemas.openxmlformats.org/officeDocument/2006/relationships/officeDocument" Target="/ppt/presentation.xml" Id="Rd6daccc797d540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dfae64961a44dc"/>
  </p:sldMasterIdLst>
  <p:notesMasterIdLst>
    <p:notesMasterId xmlns:r="http://schemas.openxmlformats.org/officeDocument/2006/relationships" r:id="R284ff31fc0e84a4b"/>
  </p:notesMasterIdLst>
  <p:sldIdLst>
    <p:sldId xmlns:r="http://schemas.openxmlformats.org/officeDocument/2006/relationships" id="256" r:id="R224201f713fc48ba"/>
    <p:sldId xmlns:r="http://schemas.openxmlformats.org/officeDocument/2006/relationships" id="257" r:id="Rcbc24e72973240bc"/>
    <p:sldId xmlns:r="http://schemas.openxmlformats.org/officeDocument/2006/relationships" id="258" r:id="R9c740c2f51d34fa5"/>
    <p:sldId xmlns:r="http://schemas.openxmlformats.org/officeDocument/2006/relationships" id="259" r:id="Rc4726631c1f64680"/>
    <p:sldId xmlns:r="http://schemas.openxmlformats.org/officeDocument/2006/relationships" id="260" r:id="R28a36fef5d794843"/>
    <p:sldId xmlns:r="http://schemas.openxmlformats.org/officeDocument/2006/relationships" id="261" r:id="R8ea69cea10404243"/>
    <p:sldId xmlns:r="http://schemas.openxmlformats.org/officeDocument/2006/relationships" id="262" r:id="Rc9820d6b9a394a18"/>
    <p:sldId xmlns:r="http://schemas.openxmlformats.org/officeDocument/2006/relationships" id="263" r:id="Rb0f2118bcba0464f"/>
    <p:sldId xmlns:r="http://schemas.openxmlformats.org/officeDocument/2006/relationships" id="264" r:id="R63e3f3ad92d648a1"/>
    <p:sldId xmlns:r="http://schemas.openxmlformats.org/officeDocument/2006/relationships" id="265" r:id="Rbb4cb30110e84819"/>
    <p:sldId xmlns:r="http://schemas.openxmlformats.org/officeDocument/2006/relationships" id="266" r:id="Read5285a84084cb0"/>
    <p:sldId xmlns:r="http://schemas.openxmlformats.org/officeDocument/2006/relationships" id="267" r:id="R37e211f47e014af5"/>
    <p:sldId xmlns:r="http://schemas.openxmlformats.org/officeDocument/2006/relationships" id="268" r:id="R12ed44e2b48f41cc"/>
    <p:sldId xmlns:r="http://schemas.openxmlformats.org/officeDocument/2006/relationships" id="269" r:id="R8da949f37f574a06"/>
    <p:sldId xmlns:r="http://schemas.openxmlformats.org/officeDocument/2006/relationships" id="270" r:id="Rb8b388b1e5324eeb"/>
    <p:sldId xmlns:r="http://schemas.openxmlformats.org/officeDocument/2006/relationships" id="271" r:id="Rcbbb24d9cc65434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fc772b7db8b4d67" /><Relationship Type="http://schemas.openxmlformats.org/officeDocument/2006/relationships/slideMaster" Target="/ppt/slideMasters/slideMaster1.xml" Id="R2cdfae64961a44dc" /><Relationship Type="http://schemas.openxmlformats.org/officeDocument/2006/relationships/notesMaster" Target="/ppt/notesMasters/notesMaster1.xml" Id="R284ff31fc0e84a4b" /><Relationship Type="http://schemas.openxmlformats.org/officeDocument/2006/relationships/presProps" Target="/ppt/presProps.xml" Id="Reaffe0372e35461f" /><Relationship Type="http://schemas.openxmlformats.org/officeDocument/2006/relationships/viewProps" Target="/ppt/viewProps.xml" Id="R33462a62d5ee4897" /><Relationship Type="http://schemas.openxmlformats.org/officeDocument/2006/relationships/tableStyles" Target="/ppt/tableStyles.xml" Id="Re18e2da0f70c47fc" /><Relationship Type="http://schemas.openxmlformats.org/officeDocument/2006/relationships/slide" Target="/ppt/slides/slide1.xml" Id="R224201f713fc48ba" /><Relationship Type="http://schemas.openxmlformats.org/officeDocument/2006/relationships/slide" Target="/ppt/slides/slide2.xml" Id="Rcbc24e72973240bc" /><Relationship Type="http://schemas.openxmlformats.org/officeDocument/2006/relationships/slide" Target="/ppt/slides/slide3.xml" Id="R9c740c2f51d34fa5" /><Relationship Type="http://schemas.openxmlformats.org/officeDocument/2006/relationships/slide" Target="/ppt/slides/slide4.xml" Id="Rc4726631c1f64680" /><Relationship Type="http://schemas.openxmlformats.org/officeDocument/2006/relationships/slide" Target="/ppt/slides/slide5.xml" Id="R28a36fef5d794843" /><Relationship Type="http://schemas.openxmlformats.org/officeDocument/2006/relationships/slide" Target="/ppt/slides/slide6.xml" Id="R8ea69cea10404243" /><Relationship Type="http://schemas.openxmlformats.org/officeDocument/2006/relationships/slide" Target="/ppt/slides/slide7.xml" Id="Rc9820d6b9a394a18" /><Relationship Type="http://schemas.openxmlformats.org/officeDocument/2006/relationships/slide" Target="/ppt/slides/slide8.xml" Id="Rb0f2118bcba0464f" /><Relationship Type="http://schemas.openxmlformats.org/officeDocument/2006/relationships/slide" Target="/ppt/slides/slide9.xml" Id="R63e3f3ad92d648a1" /><Relationship Type="http://schemas.openxmlformats.org/officeDocument/2006/relationships/slide" Target="/ppt/slides/slide10.xml" Id="Rbb4cb30110e84819" /><Relationship Type="http://schemas.openxmlformats.org/officeDocument/2006/relationships/slide" Target="/ppt/slides/slide11.xml" Id="Read5285a84084cb0" /><Relationship Type="http://schemas.openxmlformats.org/officeDocument/2006/relationships/slide" Target="/ppt/slides/slide12.xml" Id="R37e211f47e014af5" /><Relationship Type="http://schemas.openxmlformats.org/officeDocument/2006/relationships/slide" Target="/ppt/slides/slide13.xml" Id="R12ed44e2b48f41cc" /><Relationship Type="http://schemas.openxmlformats.org/officeDocument/2006/relationships/slide" Target="/ppt/slides/slide14.xml" Id="R8da949f37f574a06" /><Relationship Type="http://schemas.openxmlformats.org/officeDocument/2006/relationships/slide" Target="/ppt/slides/slide15.xml" Id="Rb8b388b1e5324eeb" /><Relationship Type="http://schemas.openxmlformats.org/officeDocument/2006/relationships/slide" Target="/ppt/slides/slide16.xml" Id="Rcbbb24d9cc6543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7dceb9822446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1edb79bc5b4a7e" /><Relationship Type="http://schemas.openxmlformats.org/officeDocument/2006/relationships/notesMaster" Target="/ppt/notesMasters/notesMaster1.xml" Id="R080ea12b3d0c44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3da92758114713" /><Relationship Type="http://schemas.openxmlformats.org/officeDocument/2006/relationships/notesMaster" Target="/ppt/notesMasters/notesMaster1.xml" Id="Raf4988f0a6504c1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0a71a512f1c455e" /><Relationship Type="http://schemas.openxmlformats.org/officeDocument/2006/relationships/notesMaster" Target="/ppt/notesMasters/notesMaster1.xml" Id="R57d71b3c2b4940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1c5995e83cd4e5c" /><Relationship Type="http://schemas.openxmlformats.org/officeDocument/2006/relationships/notesMaster" Target="/ppt/notesMasters/notesMaster1.xml" Id="Rc6bb7e85ab66480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4e1add59bc3426c" /><Relationship Type="http://schemas.openxmlformats.org/officeDocument/2006/relationships/notesMaster" Target="/ppt/notesMasters/notesMaster1.xml" Id="Rb745fda38595478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1fd8f664ba4f93" /><Relationship Type="http://schemas.openxmlformats.org/officeDocument/2006/relationships/notesMaster" Target="/ppt/notesMasters/notesMaster1.xml" Id="R69f4c49bccd344f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e731b5052bc4332" /><Relationship Type="http://schemas.openxmlformats.org/officeDocument/2006/relationships/notesMaster" Target="/ppt/notesMasters/notesMaster1.xml" Id="R350cdf4823c9441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3891adad7514ef7" /><Relationship Type="http://schemas.openxmlformats.org/officeDocument/2006/relationships/notesMaster" Target="/ppt/notesMasters/notesMaster1.xml" Id="R91e32b0049d2431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0e0d73f584b4d24" /><Relationship Type="http://schemas.openxmlformats.org/officeDocument/2006/relationships/notesMaster" Target="/ppt/notesMasters/notesMaster1.xml" Id="R7146af09be2a4f6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23282006ab64746" /><Relationship Type="http://schemas.openxmlformats.org/officeDocument/2006/relationships/notesMaster" Target="/ppt/notesMasters/notesMaster1.xml" Id="Rd1e01515d073499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86197670c02413c" /><Relationship Type="http://schemas.openxmlformats.org/officeDocument/2006/relationships/notesMaster" Target="/ppt/notesMasters/notesMaster1.xml" Id="Rdca3761276ab439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c1ed74bc47946ed" /><Relationship Type="http://schemas.openxmlformats.org/officeDocument/2006/relationships/notesMaster" Target="/ppt/notesMasters/notesMaster1.xml" Id="R96e2c52abb5b45e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4f4d78fd9054c74" /><Relationship Type="http://schemas.openxmlformats.org/officeDocument/2006/relationships/notesMaster" Target="/ppt/notesMasters/notesMaster1.xml" Id="R79f8de5898354ca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49fd7fecf454c31" /><Relationship Type="http://schemas.openxmlformats.org/officeDocument/2006/relationships/notesMaster" Target="/ppt/notesMasters/notesMaster1.xml" Id="R2b7b1d1e24ff449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d68b4f256e843a2" /><Relationship Type="http://schemas.openxmlformats.org/officeDocument/2006/relationships/notesMaster" Target="/ppt/notesMasters/notesMaster1.xml" Id="R75cbddb7b4ea484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77e316bcd474e28" /><Relationship Type="http://schemas.openxmlformats.org/officeDocument/2006/relationships/notesMaster" Target="/ppt/notesMasters/notesMaster1.xml" Id="R1f9604fc4bc641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Opening framing based on the local benchmark and presentation materials.</a:t>
            </a:r>
          </a:p>
          <a:p xmlns:a="http://schemas.openxmlformats.org/drawingml/2006/main">
            <a:r>
              <a:t>Ray documentation for distributed compute concepts: https://docs.ray.io/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Agenda derived from the user's requested topics for a university colleague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Benefits framed from local benchmark goals and university-lab compute sharing needs.</a:t>
            </a:r>
          </a:p>
          <a:p xmlns:a="http://schemas.openxmlformats.org/drawingml/2006/main">
            <a:r>
              <a:t>Ray documentation describes scaling Python and AI workloads across clusters: https://docs.ray.io/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Requirements synthesized from the local prototype goals: coordination, runtime abstraction, and controlled contribution.</a:t>
            </a:r>
          </a:p>
          <a:p xmlns:a="http://schemas.openxmlformats.org/drawingml/2006/main">
            <a:r>
              <a:t>Ray Core tasks and actors are the scheduling primitives described in Ray documentation: https://docs.ray.io/en/latest/ray-core/walkthrough.html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Ray documentation describes Ray Core tasks/actors and Ray libraries for Train, Tune, Data, and Serve: https://docs.ray.io/</a:t>
            </a:r>
          </a:p>
          <a:p xmlns:a="http://schemas.openxmlformats.org/drawingml/2006/main">
            <a:r>
              <a:t>Apache Spark project documentation describes Spark as a unified engine for large-scale data analytics: https://spark.apache.org/</a:t>
            </a:r>
          </a:p>
          <a:p xmlns:a="http://schemas.openxmlformats.org/drawingml/2006/main">
            <a:r>
              <a:t>Dask documentation describes Dask as parallel computing in Python that scales arrays, dataframes, and custom workloads: https://docs.dask.org/</a:t>
            </a:r>
          </a:p>
          <a:p xmlns:a="http://schemas.openxmlformats.org/drawingml/2006/main">
            <a:r>
              <a:t>Kubernetes documentation describes Kubernetes as a system for automating deployment, scaling, and management of containerized applications: https://kubernetes.io/docs/concepts/overview/</a:t>
            </a:r>
          </a:p>
          <a:p xmlns:a="http://schemas.openxmlformats.org/drawingml/2006/main">
            <a:r>
              <a:t>Celery documentation describes Celery as a distributed task queue: https://docs.celeryq.dev/</a:t>
            </a:r>
          </a:p>
          <a:p xmlns:a="http://schemas.openxmlformats.org/drawingml/2006/main">
            <a:r>
              <a:t>Logo assets: Spark from https://spark.apache.org/images/spark-logo-trademark.png; Dask from https://docs.dask.org/en/stable/_static/images/dask-horizontal-white.svg; Kubernetes from https://raw.githubusercontent.com/kubernetes/kubernetes/master/logo/logo.png; Celery from https://docs.celeryq.dev/en/stable/_static/celery_512.png.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image asset: /Users/I558118/Downloads/ChatGPT Image Aug 16, 2026, 09_31_55 AM.png.</a:t>
            </a:r>
          </a:p>
          <a:p xmlns:a="http://schemas.openxmlformats.org/drawingml/2006/main">
            <a:r>
              <a:t>Visible slide uses the image as an illustrative framework ecosystem map; it is not treated as an instruction source.</a:t>
            </a:r>
          </a:p>
          <a:p xmlns:a="http://schemas.openxmlformats.org/drawingml/2006/main">
            <a:r>
              <a:t>Ray ecosystem concepts are consistent with Ray Data, Ray Train, Ray Tune, and Ray Serve documentation: https://docs.ray.io/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Ray CLI command structure source: Ray documentation for ray start and cluster startup: https://docs.ray.io/en/latest/cluster/cli.html</a:t>
            </a:r>
          </a:p>
          <a:p xmlns:a="http://schemas.openxmlformats.org/drawingml/2006/main">
            <a:r>
              <a:t>Port choices mirror the local RayLab fixed-port configuration in electron/src/ray_control.js and docs/rollout.md.</a:t>
            </a:r>
          </a:p>
          <a:p xmlns:a="http://schemas.openxmlformats.org/drawingml/2006/main">
            <a:r>
              <a:t>The slide intentionally shows normal Ray CLI usage without RayLab-specific commands.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Screenshot captured from the local RayLab React frontend with a mocked Electron bridge for presentation data: presentation/assets/raylab-host-mode.png</a:t>
            </a:r>
          </a:p>
          <a:p xmlns:a="http://schemas.openxmlformats.org/drawingml/2006/main">
            <a:r>
              <a:t>Cluster node data mirrors benchmark/reports/mnist-cnn-ray-results.json.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Screenshot captured from the local RayLab React frontend with a mocked Electron bridge for presentation data: presentation/assets/raylab-join-mode.png</a:t>
            </a:r>
          </a:p>
          <a:p xmlns:a="http://schemas.openxmlformats.org/drawingml/2006/main">
            <a:r>
              <a:t>Resource cap behavior is implemented in frontend/src/store.ts and frontend/src/App.tsx.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Screenshot captured from the local RayLab React frontend with mocked live cluster data: presentation/assets/raylab-cluster-graph.png</a:t>
            </a:r>
          </a:p>
          <a:p xmlns:a="http://schemas.openxmlformats.org/drawingml/2006/main">
            <a:r>
              <a:t>Current graph behavior is implemented in frontend/src/App.tsx ClusterGraph.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Monte Carlo results source: benchmark/reports/monte-carlo-results.json and benchmark/README.md.</a:t>
            </a:r>
          </a:p>
          <a:p xmlns:a="http://schemas.openxmlformats.org/drawingml/2006/main">
            <a:r>
              <a:t>MNIST CNN results source: benchmark/reports/mnist-cnn-ray-results.json and benchmark/reports/raylab-mnist-cnn-report.html.</a:t>
            </a:r>
          </a:p>
          <a:p xmlns:a="http://schemas.openxmlformats.org/drawingml/2006/main">
            <a:r>
              <a:t>Prime and NumPy/SciPy benchmark scripts are in benchmark/ray_compute_test.py and benchmark/numpy_scipy_benchmark.py.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MNIST benchmark source data: benchmark/reports/mnist-cnn-ray-results.json.</a:t>
            </a:r>
          </a:p>
          <a:p xmlns:a="http://schemas.openxmlformats.org/drawingml/2006/main">
            <a:r>
              <a:t>Charts are native PowerPoint chart objects generated from the JSON results rather than a single flattened screenshot.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MNIST benchmark source data: benchmark/reports/mnist-cnn-ray-results.json.</a:t>
            </a:r>
          </a:p>
          <a:p xmlns:a="http://schemas.openxmlformats.org/drawingml/2006/main">
            <a:r>
              <a:t>Node CPU counts and per-host contribution are from nodes_selected and the largest run's by_host/history fields.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RayLab default port map source: electron/src/storage.js and frontend/src/store.ts.</a:t>
            </a:r>
          </a:p>
          <a:p xmlns:a="http://schemas.openxmlformats.org/drawingml/2006/main">
            <a:r>
              <a:t>RayLab rollout port policy source: docs/rollout.md, especially the 'No public exposure' and port map sections.</a:t>
            </a:r>
          </a:p>
          <a:p xmlns:a="http://schemas.openxmlformats.org/drawingml/2006/main">
            <a:r>
              <a:t>Ray startup arguments for fixed node manager, object manager, and worker port ranges source: electron/src/ray_control.js.</a:t>
            </a:r>
          </a:p>
          <a:p xmlns:a="http://schemas.openxmlformats.org/drawingml/2006/main">
            <a:r>
              <a:t>Ray security guidance recommends controlled networks for Ray clusters: https://docs.ray.io/en/latest/ray-security/index.html.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Dedicated worker-account design source: docs/rollout.md and local setup behavior implemented in electron/src/setup_runner.js.</a:t>
            </a:r>
          </a:p>
          <a:p xmlns:a="http://schemas.openxmlformats.org/drawingml/2006/main">
            <a:r>
              <a:t>Windows firewall rule scoping source: electron/src/setup_runner.js, which creates RayLab rules for coordinator/local-subnet access rather than unrestricted public access.</a:t>
            </a:r>
          </a:p>
          <a:p xmlns:a="http://schemas.openxmlformats.org/drawingml/2006/main">
            <a:r>
              <a:t>Network preflight source: electron/src/network_preflight.js and electron/src/setup_runner.js.</a:t>
            </a:r>
          </a:p>
          <a:p xmlns:a="http://schemas.openxmlformats.org/drawingml/2006/main">
            <a:r>
              <a:t>Ray security guidance notes that Ray should run in a controlled network environment: https://docs.ray.io/en/latest/ray-security/index.html.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Next steps synthesized from local RayLab prototype state and benchmark outcomes.</a:t>
            </a:r>
          </a:p>
          <a:p xmlns:a="http://schemas.openxmlformats.org/drawingml/2006/main">
            <a:r>
              <a:t>Ray documentation for Ray Tune, Ray Train, and Ray Data: https://docs.ray.io/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ddc17db80443e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75da62ff394d51" /><Relationship Type="http://schemas.openxmlformats.org/officeDocument/2006/relationships/slideLayout" Target="/ppt/slideLayouts/slideLayout1.xml" Id="Rf56a9ea219cd491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6a9ea219cd491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d64467a4454112" /><Relationship Type="http://schemas.openxmlformats.org/officeDocument/2006/relationships/notesSlide" Target="/ppt/notesSlides/notesSlide1.xml" Id="Rb2a1cf086e8e444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93b8316ec044c0" /><Relationship Type="http://schemas.openxmlformats.org/officeDocument/2006/relationships/notesSlide" Target="/ppt/notesSlides/notesSlide2.xml" Id="Rb6987ca2a4ed45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8fa8956af94a63" /><Relationship Type="http://schemas.openxmlformats.org/officeDocument/2006/relationships/notesSlide" Target="/ppt/notesSlides/notesSlide3.xml" Id="R340037045fa2422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91e78eefad4877" /><Relationship Type="http://schemas.openxmlformats.org/officeDocument/2006/relationships/notesSlide" Target="/ppt/notesSlides/notesSlide4.xml" Id="Rbaad65c0c0604c1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a4d13879974f83" /><Relationship Type="http://schemas.openxmlformats.org/officeDocument/2006/relationships/image" Target="/ppt/media/image.png" Id="Rffedbfbfa1154075" /><Relationship Type="http://schemas.openxmlformats.org/officeDocument/2006/relationships/image" Target="/ppt/media/image2.png" Id="R559495102248430a" /><Relationship Type="http://schemas.openxmlformats.org/officeDocument/2006/relationships/image" Target="/ppt/media/image3.png" Id="Rb1d1639c094145a2" /><Relationship Type="http://schemas.openxmlformats.org/officeDocument/2006/relationships/image" Target="/ppt/media/image4.png" Id="Rdfb16692f02848fa" /><Relationship Type="http://schemas.openxmlformats.org/officeDocument/2006/relationships/notesSlide" Target="/ppt/notesSlides/notesSlide5.xml" Id="Rd9e026f3ee47475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706ee37b1b49e1" /><Relationship Type="http://schemas.openxmlformats.org/officeDocument/2006/relationships/image" Target="/ppt/media/image5.png" Id="Rf147bec4eb894a22" /><Relationship Type="http://schemas.openxmlformats.org/officeDocument/2006/relationships/notesSlide" Target="/ppt/notesSlides/notesSlide6.xml" Id="R5e9cc33f90cf45b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82c7a22eeb4d85" /><Relationship Type="http://schemas.openxmlformats.org/officeDocument/2006/relationships/image" Target="/ppt/media/image6.png" Id="R70e56cd499454b67" /><Relationship Type="http://schemas.openxmlformats.org/officeDocument/2006/relationships/image" Target="/ppt/media/image7.png" Id="R6d39783e48e04128" /><Relationship Type="http://schemas.openxmlformats.org/officeDocument/2006/relationships/notesSlide" Target="/ppt/notesSlides/notesSlide7.xml" Id="R5c3d0802fee0451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ce8373665f4d24" /><Relationship Type="http://schemas.openxmlformats.org/officeDocument/2006/relationships/image" Target="/ppt/media/image8.png" Id="Recb6e3f7b5804817" /><Relationship Type="http://schemas.openxmlformats.org/officeDocument/2006/relationships/notesSlide" Target="/ppt/notesSlides/notesSlide8.xml" Id="R108bd655b9eb4ec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7523cc4b4d4a61" /><Relationship Type="http://schemas.openxmlformats.org/officeDocument/2006/relationships/image" Target="/ppt/media/image9.png" Id="R317fa0a219b94e03" /><Relationship Type="http://schemas.openxmlformats.org/officeDocument/2006/relationships/notesSlide" Target="/ppt/notesSlides/notesSlide9.xml" Id="R5c9110ead8eb4bd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e5fa2e4de14515" /><Relationship Type="http://schemas.openxmlformats.org/officeDocument/2006/relationships/image" Target="/ppt/media/image10.png" Id="R5e41eef524c646ad" /><Relationship Type="http://schemas.openxmlformats.org/officeDocument/2006/relationships/notesSlide" Target="/ppt/notesSlides/notesSlide10.xml" Id="Rd589bd340b55496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e59d8b15e74803" /><Relationship Type="http://schemas.openxmlformats.org/officeDocument/2006/relationships/notesSlide" Target="/ppt/notesSlides/notesSlide11.xml" Id="Reda8a9ec04b04e4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4ac95b60bc4619" /><Relationship Type="http://schemas.openxmlformats.org/officeDocument/2006/relationships/chart" Target="/ppt/slides/charts/chart1.xml" Id="Rb84f654c5849412f" /><Relationship Type="http://schemas.openxmlformats.org/officeDocument/2006/relationships/chart" Target="/ppt/slides/charts/chart2.xml" Id="R9fe8b97081844d47" /><Relationship Type="http://schemas.openxmlformats.org/officeDocument/2006/relationships/chart" Target="/ppt/slides/charts/chart3.xml" Id="Rfe218421effc422c" /><Relationship Type="http://schemas.openxmlformats.org/officeDocument/2006/relationships/notesSlide" Target="/ppt/notesSlides/notesSlide12.xml" Id="R8525956b2a54424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11e4f20fcb45d4" /><Relationship Type="http://schemas.openxmlformats.org/officeDocument/2006/relationships/chart" Target="/ppt/slides/charts/chart4.xml" Id="R793ccca9c4e444b5" /><Relationship Type="http://schemas.openxmlformats.org/officeDocument/2006/relationships/chart" Target="/ppt/slides/charts/chart5.xml" Id="R08cc6f512c5d4a4e" /><Relationship Type="http://schemas.openxmlformats.org/officeDocument/2006/relationships/chart" Target="/ppt/slides/charts/chart6.xml" Id="R1bc60f5888f542af" /><Relationship Type="http://schemas.openxmlformats.org/officeDocument/2006/relationships/notesSlide" Target="/ppt/notesSlides/notesSlide13.xml" Id="R953c6c1a0caa446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115d655abb4b2c" /><Relationship Type="http://schemas.openxmlformats.org/officeDocument/2006/relationships/notesSlide" Target="/ppt/notesSlides/notesSlide14.xml" Id="R196e13e0e2894ac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285acd1e014d68" /><Relationship Type="http://schemas.openxmlformats.org/officeDocument/2006/relationships/notesSlide" Target="/ppt/notesSlides/notesSlide15.xml" Id="R67154642bc754df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41fa67a54144dd" /><Relationship Type="http://schemas.openxmlformats.org/officeDocument/2006/relationships/notesSlide" Target="/ppt/notesSlides/notesSlide16.xml" Id="Re4945b5cee43479d" /></Relationships>
</file>

<file path=ppt/slides/charts/chart1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v>Wall time</c:v>
          </c:tx>
          <c:spPr>
            <a:solidFill xmlns:a="http://schemas.openxmlformats.org/drawingml/2006/main">
              <a:srgbClr val="2563EB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64748B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0F766E"/>
              </a:solidFill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825" b="1">
                    <a:solidFill>
                      <a:srgbClr val="0F1720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1 node</c:v>
              </c:pt>
              <c:pt idx="1">
                <c:v>2 nodes</c:v>
              </c:pt>
              <c:pt idx="2">
                <c:v>3 nodes</c:v>
              </c:pt>
            </c:strLit>
          </c:cat>
          <c:val>
            <c:numLit>
              <c:formatCode>0.0</c:formatCode>
              <c:ptCount val="3"/>
              <c:pt idx="0">
                <c:v>18.6</c:v>
              </c:pt>
              <c:pt idx="1">
                <c:v>15.1</c:v>
              </c:pt>
              <c:pt idx="2">
                <c:v>13.8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8E2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36D"/>
                </a:solidFill>
              </a:defRPr>
            </a:pPr>
          </a:p>
        </c:txPr>
        <c:crossAx val="48672768"/>
        <c:crosses val="autoZero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CEF"/>
              </a:solidFill>
              <a:prstDash val="solid"/>
            </a:ln>
          </c:spPr>
        </c:majorGridlines>
        <c:numFmt formatCode="0.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8E2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36D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v>Throughput</c:v>
          </c:tx>
          <c:spPr>
            <a:solidFill xmlns:a="http://schemas.openxmlformats.org/drawingml/2006/main">
              <a:srgbClr val="0F766E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64748B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2563EB"/>
              </a:solidFill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825" b="1">
                    <a:solidFill>
                      <a:srgbClr val="0F1720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1 node</c:v>
              </c:pt>
              <c:pt idx="1">
                <c:v>2 nodes</c:v>
              </c:pt>
              <c:pt idx="2">
                <c:v>3 nodes</c:v>
              </c:pt>
            </c:strLit>
          </c:cat>
          <c:val>
            <c:numLit>
              <c:formatCode>#,##0</c:formatCode>
              <c:ptCount val="3"/>
              <c:pt idx="0">
                <c:v>6466.588583682945</c:v>
              </c:pt>
              <c:pt idx="1">
                <c:v>7967.37249420724</c:v>
              </c:pt>
              <c:pt idx="2">
                <c:v>8677.64216776311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8E2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36D"/>
                </a:solidFill>
              </a:defRPr>
            </a:pPr>
          </a:p>
        </c:txPr>
        <c:crossAx val="48672768"/>
        <c:crosses val="autoZero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CEF"/>
              </a:solidFill>
              <a:prstDash val="solid"/>
            </a:ln>
          </c:spPr>
        </c:majorGridlines>
        <c:numFmt formatCode="#,##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8E2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36D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roundedCorners val="1"/>
  <c:style val="2"/>
  <c:chart>
    <c:autoTitleDeleted val="1"/>
    <c:plotArea>
      <c:lineChart>
        <c:grouping val="standard"/>
        <c:varyColors val="1"/>
        <c:ser>
          <c:idx val="0"/>
          <c:order val="0"/>
          <c:tx>
            <c:v>Speedup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563EB"/>
              </a:solidFill>
            </c:spPr>
          </c:marke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825" b="1">
                    <a:solidFill>
                      <a:srgbClr val="0F1720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1 node</c:v>
              </c:pt>
              <c:pt idx="1">
                <c:v>2 nodes</c:v>
              </c:pt>
              <c:pt idx="2">
                <c:v>3 nodes</c:v>
              </c:pt>
            </c:strLit>
          </c:cat>
          <c:val>
            <c:numLit>
              <c:formatCode>0.00\x</c:formatCode>
              <c:ptCount val="3"/>
              <c:pt idx="0">
                <c:v>1</c:v>
              </c:pt>
              <c:pt idx="1">
                <c:v>1.2320827884908596</c:v>
              </c:pt>
              <c:pt idx="2">
                <c:v>1.3419196312657475</c:v>
              </c:pt>
            </c:numLit>
          </c:val>
          <c:smooth val="1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8E2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36D"/>
                </a:solidFill>
              </a:defRPr>
            </a:pPr>
          </a:p>
        </c:txPr>
        <c:crossAx val="48672768"/>
        <c:crosses val="autoZero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CEF"/>
              </a:solidFill>
              <a:prstDash val="solid"/>
            </a:ln>
          </c:spPr>
        </c:majorGridlines>
        <c:numFmt formatCode="0.00\x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8E2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36D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roundedCorners val="1"/>
  <c:style val="2"/>
  <c:chart>
    <c:autoTitleDeleted val="1"/>
    <c:plotArea>
      <c:lineChart>
        <c:grouping val="standard"/>
        <c:varyColors val="1"/>
        <c:ser>
          <c:idx val="0"/>
          <c:order val="0"/>
          <c:tx>
            <c:v>Test accuracy by round</c:v>
          </c:tx>
          <c:spPr>
            <a:ln xmlns:a="http://schemas.openxmlformats.org/drawingml/2006/main" w="28575">
              <a:solidFill>
                <a:srgbClr val="0F766E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0F766E"/>
              </a:solidFill>
            </c:spPr>
          </c:marke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825" b="1">
                    <a:solidFill>
                      <a:srgbClr val="0F1720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5"/>
              <c:pt idx="0">
                <c:v>R1</c:v>
              </c:pt>
              <c:pt idx="1">
                <c:v>R2</c:v>
              </c:pt>
              <c:pt idx="2">
                <c:v>R3</c:v>
              </c:pt>
              <c:pt idx="3">
                <c:v>R4</c:v>
              </c:pt>
              <c:pt idx="4">
                <c:v>R5</c:v>
              </c:pt>
            </c:strLit>
          </c:cat>
          <c:val>
            <c:numLit>
              <c:formatCode>0.0%</c:formatCode>
              <c:ptCount val="5"/>
              <c:pt idx="0">
                <c:v>0.9354</c:v>
              </c:pt>
              <c:pt idx="1">
                <c:v>0.9536</c:v>
              </c:pt>
              <c:pt idx="2">
                <c:v>0.9588</c:v>
              </c:pt>
              <c:pt idx="3">
                <c:v>0.9678</c:v>
              </c:pt>
              <c:pt idx="4">
                <c:v>0.9654</c:v>
              </c:pt>
            </c:numLit>
          </c:val>
          <c:smooth val="1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8E2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36D"/>
                </a:solidFill>
              </a:defRPr>
            </a:pPr>
          </a:p>
        </c:txPr>
        <c:crossAx val="48672768"/>
        <c:crosses val="autoZero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CEF"/>
              </a:solidFill>
              <a:prstDash val="solid"/>
            </a:ln>
          </c:spPr>
        </c:majorGridlines>
        <c:numFmt formatCode="0.0%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8E2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36D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5.xml><?xml version="1.0" encoding="utf-8"?>
<c:chartSpace xmlns:c="http://schemas.openxmlformats.org/drawingml/2006/chart">
  <c:lang val="en-US"/>
  <c:roundedCorners val="1"/>
  <c:style val="2"/>
  <c:chart>
    <c:autoTitleDeleted val="1"/>
    <c:plotArea>
      <c:lineChart>
        <c:grouping val="standard"/>
        <c:varyColors val="1"/>
        <c:ser>
          <c:idx val="0"/>
          <c:order val="0"/>
          <c:tx>
            <c:v>Test loss by round</c:v>
          </c:tx>
          <c:spPr>
            <a:ln xmlns:a="http://schemas.openxmlformats.org/drawingml/2006/main" w="28575">
              <a:solidFill>
                <a:srgbClr val="B45309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B45309"/>
              </a:solidFill>
            </c:spPr>
          </c:marke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825" b="1">
                    <a:solidFill>
                      <a:srgbClr val="0F1720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5"/>
              <c:pt idx="0">
                <c:v>R1</c:v>
              </c:pt>
              <c:pt idx="1">
                <c:v>R2</c:v>
              </c:pt>
              <c:pt idx="2">
                <c:v>R3</c:v>
              </c:pt>
              <c:pt idx="3">
                <c:v>R4</c:v>
              </c:pt>
              <c:pt idx="4">
                <c:v>R5</c:v>
              </c:pt>
            </c:strLit>
          </c:cat>
          <c:val>
            <c:numLit>
              <c:formatCode>0.000</c:formatCode>
              <c:ptCount val="5"/>
              <c:pt idx="0">
                <c:v>0.2192081741333008</c:v>
              </c:pt>
              <c:pt idx="1">
                <c:v>0.1522359477996826</c:v>
              </c:pt>
              <c:pt idx="2">
                <c:v>0.12905887775421143</c:v>
              </c:pt>
              <c:pt idx="3">
                <c:v>0.10609913930892945</c:v>
              </c:pt>
              <c:pt idx="4">
                <c:v>0.10275714540481568</c:v>
              </c:pt>
            </c:numLit>
          </c:val>
          <c:smooth val="1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8E2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36D"/>
                </a:solidFill>
              </a:defRPr>
            </a:pPr>
          </a:p>
        </c:txPr>
        <c:crossAx val="48672768"/>
        <c:crosses val="autoZero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CEF"/>
              </a:solidFill>
              <a:prstDash val="solid"/>
            </a:ln>
          </c:spPr>
        </c:majorGridlines>
        <c:numFmt formatCode="0.00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8E2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36D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6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v>Per-host train seconds</c:v>
          </c:tx>
          <c:spPr>
            <a:solidFill xmlns:a="http://schemas.openxmlformats.org/drawingml/2006/main">
              <a:srgbClr val="2563EB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64748B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0F766E"/>
              </a:solidFill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825" b="1">
                    <a:solidFill>
                      <a:srgbClr val="0F1720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Abimbolas</c:v>
              </c:pt>
              <c:pt idx="1">
                <c:v>BaddestM4.local</c:v>
              </c:pt>
              <c:pt idx="2">
                <c:v>F6TMFW21C3</c:v>
              </c:pt>
            </c:strLit>
          </c:cat>
          <c:val>
            <c:numLit>
              <c:formatCode>0.0</c:formatCode>
              <c:ptCount val="3"/>
              <c:pt idx="0">
                <c:v>4.3</c:v>
              </c:pt>
              <c:pt idx="1">
                <c:v>2.7</c:v>
              </c:pt>
              <c:pt idx="2">
                <c:v>1.5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8E2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36D"/>
                </a:solidFill>
              </a:defRPr>
            </a:pPr>
          </a:p>
        </c:txPr>
        <c:crossAx val="48672768"/>
        <c:crosses val="autoZero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CEF"/>
              </a:solidFill>
              <a:prstDash val="solid"/>
            </a:ln>
          </c:spPr>
        </c:majorGridlines>
        <c:numFmt formatCode="0.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8E2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36D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413E8EA-DFEA-4C70-94E9-41074F1E7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rPr>
              <a:t>DISTRIBUTED COMPUTE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6751577-4042-44CA-AF19-E472117C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8667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Turning ordinary lab machines into a distributed compute cluster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0E3BD44-2B66-4D31-9571-48F62DB5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33800"/>
            <a:ext cx="7524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A practical university question: can ordinary Windows and macOS machines work together as one shared compute surface?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B6FB035-1012-41EB-B888-2AE160FE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0"/>
            <a:ext cx="7239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F74"/>
          </a:solidFill>
          <a:ln xmlns:a="http://schemas.openxmlformats.org/drawingml/2006/main" w="0">
            <a:solidFill>
              <a:srgbClr val="1D5F7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6F23636-9628-429E-B2DE-3C92E47F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816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Jeremiah Abimbola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F153665-6CE0-4A9D-9F01-E3F0EEDBC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Distributed compute study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A9E8BC0-D98F-4D9A-82A5-3D4F64D4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756667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79E7973E-9C23-4331-BD76-5886117A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DISTRIBUTED COMPUTING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8E82C0F-3CE6-4691-B7D7-9F0EC059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620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What we will cover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27666F5-E589-49FA-A4A1-506A854F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10871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A"/>
          </a:solidFill>
          <a:ln xmlns:a="http://schemas.openxmlformats.org/drawingml/2006/main" w="0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48FAF4E-7DAC-4A88-9A78-C28935649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110871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272FA3A-B411-4E45-87EB-1A386935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11087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1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0DF78CEF-7849-43AE-B0BB-D53E28F3A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71675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344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3444E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10EB41F-A488-426B-BBDD-B63361E89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971675"/>
            <a:ext cx="1005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344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3444E"/>
                </a:solidFill>
                <a:latin typeface="Helvetica Neue"/>
                <a:ea typeface="Helvetica Neue"/>
                <a:cs typeface="Helvetica Neue"/>
              </a:rPr>
              <a:t>Why distributed work matters for a university group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2027933-719C-4391-861D-AA3D73D2C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62200"/>
            <a:ext cx="11087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94F6D7A-F47B-4591-BEE8-961FACCF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47925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2D3E1735-7218-4748-BCB7-2F0BD917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47925"/>
            <a:ext cx="1005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What a useful shared cluster would need to do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7A5A14A-B62A-42BB-BAA7-CFC81D19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0752176D-EAD8-4A00-91FB-3C64C2BE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24175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F9BEE582-80C5-499D-893D-DE2FE566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924175"/>
            <a:ext cx="1005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The tools we considered before choosing a runtime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73EA61BA-514B-4A2B-9185-88B6C400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14700"/>
            <a:ext cx="11087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7C4C29D7-A709-44C2-92C9-A909394CA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00425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F135F57D-848B-49D8-A671-298A0D2E7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400425"/>
            <a:ext cx="1005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Why Ray became the runtime choice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D04FA82B-6EEA-48C3-92E6-F89815E8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90950"/>
            <a:ext cx="11087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5AFFC41-EA75-4674-AFBF-0958AF1A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76675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A5EA7809-7D8D-4903-BDCD-51100FBC4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876675"/>
            <a:ext cx="1005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How Ray connects common machine-learning frameworks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6E251132-0401-4269-B8E2-352519C0A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67200"/>
            <a:ext cx="11087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721CDD73-65E6-4AEF-A5BD-094C6B36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52925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82A91E9D-D387-4960-9B12-EEAD2205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52925"/>
            <a:ext cx="1005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What we built on top of Ray and how it behaves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FAE15F44-7E46-4DF8-8522-428DC4B93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43450"/>
            <a:ext cx="11087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13523871-C643-411B-A732-5A6CFDD60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29175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129D26DB-2028-4FEB-A06E-0333932D7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29175"/>
            <a:ext cx="1005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Benchmarks, security, and next steps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99509C8-1130-4482-BE4E-066DD47CD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Distributed compute study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021D5BF3-12B1-4E9C-939D-4E5ECCF7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490647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0F6D6C41-76E4-462D-A312-79598605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DISTRIBUTED COMPUTING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981FAC-AC3F-4246-9A09-90DD205C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620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The opportunity is already sitting on our desks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5CDD2BD-0EB0-4EA1-90D0-34D213E2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10871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A"/>
          </a:solidFill>
          <a:ln xmlns:a="http://schemas.openxmlformats.org/drawingml/2006/main" w="0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079ADC8-176B-4A20-87F3-EF7766693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1028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Most labs have idle CPU, RAM, and sometimes GPU capacity spread across personal workstations. The practical question is whether that idle capacity can become a shared compute surface without asking everyone to become a cluster administrator.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5C510DA-B444-4990-A83E-0ECDBD16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32385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3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D42D0CF-5969-4C1F-99A1-1B8039DEE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623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More useful compute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07C7580-718B-4721-91E1-13644B3B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57650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Batch simulations, model training, data transforms, and inference jobs can use multiple machines instead of one laptop.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AABBAA7-4504-44B4-A8E9-67954D2A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33750"/>
            <a:ext cx="32385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4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2CEA8EC-B4AF-4631-9D45-B3B28CAD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623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Lower barrier to entry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9D2098D-2A8D-4F75-8A46-51FD7A36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57650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Any usable answer has to hide operational details: ports, setup checks, worker accounts, containers, and logs.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AEB3F18-647C-4309-981A-46842335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33750"/>
            <a:ext cx="32385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4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C69AF4C3-03AA-451E-A1ED-F5BBD2B52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623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Better demos and teaching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A58E9BC9-607D-4DCC-998D-D1DB4B1ED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91443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Students and colleagues can see distributed systems concepts using machines they recognize.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A2B6A1B-582F-4B8B-B9C6-E2C4D2856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Distributed compute study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8E00333F-73B2-430C-8A6B-1854AD94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086734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B6A1AB0B-D48C-4B4D-9A25-C3360A0DA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DISTRIBUTED COMPUTING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AC8CEE5-5CF1-429B-8F63-8485AE32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620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A useful answer has to satisfy three constraints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7D1B4BD-B09A-4DF9-9680-9D44BE60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10871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A"/>
          </a:solidFill>
          <a:ln xmlns:a="http://schemas.openxmlformats.org/drawingml/2006/main" w="0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EBFC0CA-657C-4D29-933C-54B10CF7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2762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3"/>
          </a:solidFill>
          <a:ln xmlns:a="http://schemas.openxmlformats.org/drawingml/2006/main" w="9525">
            <a:solidFill>
              <a:srgbClr val="A9D5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2DE2AA7-8691-48B6-9FAD-775EFCB9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Coordination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F9FB89F-D6B1-40E0-AB19-BBE138C9D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One machine organizes jobs, logs, resources, and live state for the group.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8C8EDCF-1D82-4B1E-98ED-A3F453C5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12697"/>
            <a:ext cx="2762249" cy="12287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1D77416-CD3A-4499-8682-8BC9594D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1" y="2655573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Runtime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DA5B758-3237-46DB-8C87-03469E5E0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1" y="3027048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schedules work across machines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1230FC47-D81F-41F0-A300-273FA44A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90750"/>
            <a:ext cx="2762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B8CC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FA796040-4E5A-4334-B8BC-CCB7CC93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193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Contribution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D9A6968E-BFC2-4709-916E-41D502926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14650"/>
            <a:ext cx="219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Each participant must control when and how much local CPU, RAM, or GPU capacity is shared.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CB2E6C7E-6FD5-4E7E-9AD5-02AAADF67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2915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Before choosing a tool, the requirement was simple: pool idle compute while keeping machines understandable and locally controlled.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856D2693-946E-4867-890A-42B913FF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Distributed compute study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129EC3A4-2CEE-4DF1-A89C-D4194652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815622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0E99BC9D-CE84-457B-9ED7-B7C77D20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WHY RAY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0C6A955-6832-4120-AD2E-588545BFD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620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Ray fits the lab better than adjacent tools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0EEA91D-C614-43D0-9B33-E42A7C82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10871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A"/>
          </a:solidFill>
          <a:ln xmlns:a="http://schemas.openxmlformats.org/drawingml/2006/main" w="0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5F0F538-A119-42C1-A98F-5458A0EBC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10344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The alternatives are excellent, but they each optimize for a narrower layer. Ray gave us one Python-first runtime for tasks, actors, training, tuning, data, and serving on machines people already own.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FAB4172-C8FE-4DAA-8BCE-7DF2A611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19400"/>
            <a:ext cx="5143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7B58A5D-B9BE-4BD4-95FF-82075C77C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781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D9E3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2" name="Picture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edbfbfa1154075"/>
          <a:stretch xmlns:a="http://schemas.openxmlformats.org/drawingml/2006/main"/>
        </p:blipFill>
        <p:spPr>
          <a:xfrm xmlns:a="http://schemas.openxmlformats.org/drawingml/2006/main">
            <a:off x="819150" y="3157639"/>
            <a:ext cx="590550" cy="314122"/>
          </a:xfrm>
          <a:prstGeom xmlns:a="http://schemas.openxmlformats.org/drawingml/2006/main" prst="rect">
            <a:avLst/>
          </a:prstGeom>
        </p:spPr>
      </p:pic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57ED28D-A8D8-44C0-A9B6-084ABFA6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0099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rPr>
              <a:t>Apache Spark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8B87938-07B9-4456-8301-01B50BAF5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718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Large-scale SQL, ETL, and data processing.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F3F11533-A605-47C9-9C36-972ACDAB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81000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Less natural for Python-native actors, mixed ML workloads, and interactive desktop-lab contribution.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6C3343C-1DE1-40EE-BCFC-196E4790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19400"/>
            <a:ext cx="5143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499FE138-606C-4636-9519-2FC0F5814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09900"/>
            <a:ext cx="781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D9E3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8" name="Picture 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9495102248430a"/>
          <a:stretch xmlns:a="http://schemas.openxmlformats.org/drawingml/2006/main"/>
        </p:blipFill>
        <p:spPr>
          <a:xfrm xmlns:a="http://schemas.openxmlformats.org/drawingml/2006/main">
            <a:off x="6381750" y="3196590"/>
            <a:ext cx="590550" cy="236220"/>
          </a:xfrm>
          <a:prstGeom xmlns:a="http://schemas.openxmlformats.org/drawingml/2006/main" prst="rect">
            <a:avLst/>
          </a:prstGeom>
        </p:spPr>
      </p:pic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4CE6E43-95AB-4B65-8CD0-1DD3AF5A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099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Dask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7217AAA9-EA7E-46B3-A0EA-125D1C91B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718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Python-native scaling for arrays, dataframes, and NumPy/Pandas-style workloads.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539E9EB9-337C-406F-BF4D-8CB784EF8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1000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Strong for data science parallelism, but not as complete as one runtime for Train, Tune, Serve, and actors.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DBF5FFF9-1E0B-429A-991D-74C2AEB4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95800"/>
            <a:ext cx="5143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E6E88A3A-9117-4F41-A931-B36DC290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781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D9E3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4" name="Picture 4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d1639c094145a2"/>
          <a:stretch xmlns:a="http://schemas.openxmlformats.org/drawingml/2006/main"/>
        </p:blipFill>
        <p:spPr>
          <a:xfrm xmlns:a="http://schemas.openxmlformats.org/drawingml/2006/main">
            <a:off x="898456" y="4781550"/>
            <a:ext cx="431938" cy="419100"/>
          </a:xfrm>
          <a:prstGeom xmlns:a="http://schemas.openxmlformats.org/drawingml/2006/main" prst="rect">
            <a:avLst/>
          </a:prstGeom>
        </p:spPr>
      </p:pic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3A81D400-A1D3-475A-8443-ABA56452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6863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Kubernetes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CDEB3A6F-33E1-4512-94E4-9EC0606CB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0482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Production-grade container orchestration and deployment.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9A9D276A-C6C5-450A-B00D-A3CBB526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8640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Powerful infrastructure, but operationally heavier and not itself a researcher-friendly compute API.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C373DDB5-6F11-4D18-A71A-4ADC94481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495800"/>
            <a:ext cx="5143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C8753FFF-1A12-4552-9F2B-D461E2A9F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86300"/>
            <a:ext cx="781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D9E3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0" name="Picture 5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b16692f02848fa"/>
          <a:stretch xmlns:a="http://schemas.openxmlformats.org/drawingml/2006/main"/>
        </p:blipFill>
        <p:spPr>
          <a:xfrm xmlns:a="http://schemas.openxmlformats.org/drawingml/2006/main">
            <a:off x="6467475" y="478155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9B412B56-3284-4301-BA52-91C8D00C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863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F9E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F9E67"/>
                </a:solidFill>
                <a:latin typeface="Helvetica Neue"/>
                <a:ea typeface="Helvetica Neue"/>
                <a:cs typeface="Helvetica Neue"/>
              </a:rPr>
              <a:t>Celery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646DC57C-108B-438E-A025-13842B3E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482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Reliable background jobs and web-task queues.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C43B8965-6931-40BD-8641-0CD148465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48640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Great for queues, but not designed as an ML, simulation, and distributed-data runtime.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296A679D-6B3C-4283-9B8F-74329FF9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Distributed compute study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C3CECE65-DFBA-4656-8142-583E6697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10869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A0FCC9C-E41A-447E-B678-A2885FA4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 ECOSYSTEM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581BCB6-692B-40F5-B54C-1CE1F679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620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The same Ray layer connects data, training, tuning, and serving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A2418A5-0BFD-4D46-964D-707EB7CE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10871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A"/>
          </a:solidFill>
          <a:ln xmlns:a="http://schemas.openxmlformats.org/drawingml/2006/main" w="0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3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47bec4eb894a22"/>
          <a:stretch xmlns:a="http://schemas.openxmlformats.org/drawingml/2006/main"/>
        </p:blipFill>
        <p:spPr>
          <a:xfrm xmlns:a="http://schemas.openxmlformats.org/drawingml/2006/main">
            <a:off x="2457268" y="1943100"/>
            <a:ext cx="7277464" cy="4095750"/>
          </a:xfrm>
          <a:prstGeom xmlns:a="http://schemas.openxmlformats.org/drawingml/2006/main" prst="rect">
            <a:avLst/>
          </a:prstGeom>
        </p:spPr>
      </p:pic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31ADDB2-A0F2-4569-93D9-A32342112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960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Pattern: Ray adds a distributed execution layer; familiar ML tools remain familiar.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BD84691-FEE0-4596-B58A-32D16353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Distributed compute study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04AC898-86EE-4CBB-8D23-77A88B0F9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956440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520BCF38-8010-4F01-8D61-1632F66FD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 CLI REFERENCE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414F01E-CC3C-4CB8-BDE9-D6D02E2D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620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Starting and joining a Ray cluster from the CLI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9BA82E9-24BF-4283-9950-36226C28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10871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A"/>
          </a:solidFill>
          <a:ln xmlns:a="http://schemas.openxmlformats.org/drawingml/2006/main" w="0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8111B7C-F1F1-4403-97D3-D2F13F7B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This is the plain Ray workflow: one machine starts the head node; each additional machine joins by pointing at the head IP and port.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2369317-E16C-41EC-A914-C3A5C79CE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rPr>
              <a:t>Start the head node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44E0012-06E2-4C49-B84E-F27A555D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Run once on the machine that coordinates the cluster.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0C9F802-27D8-4184-8D52-E46C19877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241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Join a worker node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93E390D-B3BD-44B5-B650-EEC11C1D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4800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Run on each machine that contributes CPU/GPU resources.</a:t>
            </a:r>
          </a:p>
        </p:txBody>
      </p:sp>
      <p:pic>
        <p:nvPicPr>
          <p:cNvPr id="26" name="Picture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e56cd499454b67"/>
          <a:stretch xmlns:a="http://schemas.openxmlformats.org/drawingml/2006/main"/>
        </p:blipFill>
        <p:spPr>
          <a:xfrm xmlns:a="http://schemas.openxmlformats.org/drawingml/2006/main">
            <a:off x="552450" y="3524250"/>
            <a:ext cx="5334000" cy="2438400"/>
          </a:xfrm>
          <a:prstGeom xmlns:a="http://schemas.openxmlformats.org/drawingml/2006/main" prst="rect">
            <a:avLst/>
          </a:prstGeom>
        </p:spPr>
      </p:pic>
      <p:pic>
        <p:nvPicPr>
          <p:cNvPr id="27" name="Picture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39783e48e04128"/>
          <a:stretch xmlns:a="http://schemas.openxmlformats.org/drawingml/2006/main"/>
        </p:blipFill>
        <p:spPr>
          <a:xfrm xmlns:a="http://schemas.openxmlformats.org/drawingml/2006/main">
            <a:off x="6305550" y="3524250"/>
            <a:ext cx="5334000" cy="2438400"/>
          </a:xfrm>
          <a:prstGeom xmlns:a="http://schemas.openxmlformats.org/drawingml/2006/main" prst="rect">
            <a:avLst/>
          </a:prstGeom>
        </p:spPr>
      </p:pic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CC1D9A42-BF7A-4051-A647-BF1BFF4E4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Distributed compute study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B01E64EF-9C37-4D07-9072-C129B982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874841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2431CD8D-6A2A-45EC-9A13-902FEF9F5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DISTRIBUTED COMPUTING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23B8F75-69E6-462F-8E56-F1D84AA7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620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Then we built RayLab: host mode coordinates the cluster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CF9ADCB-4A6A-493F-BD83-8D65E150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10871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A"/>
          </a:solidFill>
          <a:ln xmlns:a="http://schemas.openxmlformats.org/drawingml/2006/main" w="0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AEF3790-4869-4DFB-B251-ACD10E50E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447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The host chooses network exposure, ports, resource caps, and can see active nodes. In practice, this becomes the control room for the lab cluster.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22BF4BD-8438-45AE-BFE8-D87965BA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956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COORDINATOR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585D1F9-0D45-43D8-A696-A361EC20E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3 nodes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6429603-E7EC-4E91-A648-CC872B8E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4815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Windows head plus two macOS contributors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7893F69-54BE-4D70-AA3F-1999DB82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956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JOB SLOTS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8E899A36-E143-4DE7-A605-3672347F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1950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E0EFDF4-564C-4247-8840-7B45EDB1C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24815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Configured as RayLab max concurrent jobs</a:t>
            </a:r>
          </a:p>
        </p:txBody>
      </p:sp>
      <p:pic>
        <p:nvPicPr>
          <p:cNvPr id="26" name="Picture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b6e3f7b5804817"/>
          <a:srcRect xmlns:a="http://schemas.openxmlformats.org/drawingml/2006/main" l="0" t="3622" r="0" b="36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0" y="1790700"/>
            <a:ext cx="6096000" cy="3848100"/>
          </a:xfrm>
          <a:prstGeom xmlns:a="http://schemas.openxmlformats.org/drawingml/2006/main" prst="roundRect">
            <a:avLst>
              <a:gd name="adj" fmla="val 2970"/>
            </a:avLst>
          </a:prstGeom>
        </p:spPr>
      </p:pic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4B5F500F-EEC0-4125-B2BB-7A9D799CE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· university lab cluster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B7C40FB-3B59-4BE5-A88B-078D1CC4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567494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B5C5FECF-A201-4B3D-A5A6-937B1AC9D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DISTRIBUTED COMPUTING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3EA278F-8DC9-4256-B377-5A3ED0D5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620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Join mode lets a colleague contribute safely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080598C-54E2-4C5F-8DDA-8F0E5BFB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10871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A"/>
          </a:solidFill>
          <a:ln xmlns:a="http://schemas.openxmlformats.org/drawingml/2006/main" w="0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5" name="Picture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7fa0a219b94e03"/>
          <a:srcRect xmlns:a="http://schemas.openxmlformats.org/drawingml/2006/main" l="0" t="4215" r="0" b="42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790700"/>
            <a:ext cx="657225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2777C59-6882-4AA7-927B-E3351D67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1979694"/>
            <a:ext cx="4662598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A worker machine can join the coordinator, run setup, verify networking, and cap its contribution. The user remains in control of when and how much local compute is shared.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6846179-6D4D-4B03-892E-EE013CFDA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249656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CPU offered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B455BB1-8F80-42F6-85D1-B0EF6824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278231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1"/>
          </a:solidFill>
          <a:ln xmlns:a="http://schemas.openxmlformats.org/drawingml/2006/main" w="0">
            <a:solidFill>
              <a:srgbClr val="E7EE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01BC2C8-20F8-40E1-A96F-B92EE3C2F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278231"/>
            <a:ext cx="1825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56B7850-D4C9-4853-8489-6278E79F4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4249656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10.00x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0FB6A5B-AE70-40F5-BF1F-FD798E2F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725906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RAM cap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F2840430-31D6-4AB5-91C2-EB20324D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754481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1"/>
          </a:solidFill>
          <a:ln xmlns:a="http://schemas.openxmlformats.org/drawingml/2006/main" w="0">
            <a:solidFill>
              <a:srgbClr val="E7EE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08979F2C-F8DB-4C8A-AFA6-E7E025F1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754481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916B6184-6F2D-4259-B860-39F78926A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4725906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32.00x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8E7DE3F3-A20A-4651-98B3-191C136E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5202156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Setup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737EE543-66EF-41AB-BDF3-A2E2429CA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5230731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1"/>
          </a:solidFill>
          <a:ln xmlns:a="http://schemas.openxmlformats.org/drawingml/2006/main" w="0">
            <a:solidFill>
              <a:srgbClr val="E7EE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B4A4E91D-B918-4926-9A43-D02FB1D5A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5230731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9E67"/>
          </a:solidFill>
          <a:ln xmlns:a="http://schemas.openxmlformats.org/drawingml/2006/main" w="0">
            <a:solidFill>
              <a:srgbClr val="2F9E6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C8770699-3DF8-4D3E-8FEC-FE6024828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5202156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F9E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F9E67"/>
                </a:solidFill>
                <a:latin typeface="Helvetica Neue"/>
                <a:ea typeface="Helvetica Neue"/>
                <a:cs typeface="Helvetica Neue"/>
              </a:rPr>
              <a:t>1.00x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3F6D6766-C7EB-4098-AA7F-4B725EA3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· university lab cluster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9DC2922C-5DC9-4C8F-8E78-0EAC3690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431008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A2B01C5-718A-43EE-8E73-E99E91D7D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DISTRIBUTED COMPUTING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AE47002-12C4-49E8-8C05-3175D1D30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620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The cluster graph makes distributed work visible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142E03A-8204-4DE3-A9B1-7EC5F656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10871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A"/>
          </a:solidFill>
          <a:ln xmlns:a="http://schemas.openxmlformats.org/drawingml/2006/main" w="0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5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41eef524c646ad"/>
          <a:srcRect xmlns:a="http://schemas.openxmlformats.org/drawingml/2006/main" l="0" t="9498" r="0" b="94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790700"/>
            <a:ext cx="742950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FD52F21-7C39-449B-9BE0-05879659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24050"/>
            <a:ext cx="30670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This matters for teaching and debugging: colleagues can see which machines are alive, what each contributes, and whether the coordinator sees the same reality as the workers.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362A394-7802-4C49-95AB-83B1E5A8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12253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Live nodes only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0F512CD-DEC9-4A25-B2C7-9B173228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3829" y="4746551"/>
            <a:ext cx="3197742" cy="118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The graph intentionally shows current connected devices rather than remembered historical machines.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D512B46-2213-489D-A4C2-6CC64AFF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· university lab cluster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86DB2988-00F9-4F6D-A940-6301164EE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9782568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E26A8982-295D-4A25-A799-8914EA35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DISTRIBUTED COMPUTING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80574B0-173D-4F6D-B1AC-05C909F3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620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The benchmarks show both promise and engineering honesty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76AAC6E-1722-4541-A079-447E36354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10871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A"/>
          </a:solidFill>
          <a:ln xmlns:a="http://schemas.openxmlformats.org/drawingml/2006/main" w="0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A5EFA07-7654-4AC1-B2F6-3CF0B5742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1019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We tested both embarrassingly parallel work and real neural-network training. The message is credible because we also show where workload shape matters.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A537798-2ADF-4EC6-9070-45766607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299"/>
            <a:ext cx="7198685" cy="25775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09F6B71-4498-4F14-81BF-18882A0FF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7096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1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8AE2176-895C-47C3-AF02-648652352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67025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344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3444E"/>
                </a:solidFill>
                <a:latin typeface="Helvetica Neue"/>
                <a:ea typeface="Helvetica Neue"/>
                <a:cs typeface="Helvetica Neue"/>
              </a:rPr>
              <a:t>Benchmark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F73A51C-26A3-47FF-8893-0C080338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867025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344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3444E"/>
                </a:solidFill>
                <a:latin typeface="Helvetica Neue"/>
                <a:ea typeface="Helvetica Neue"/>
                <a:cs typeface="Helvetica Neue"/>
              </a:rPr>
              <a:t>What it did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3E7DD8F-1D40-4166-956B-21DE1314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67025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344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3444E"/>
                </a:solidFill>
                <a:latin typeface="Helvetica Neue"/>
                <a:ea typeface="Helvetica Neue"/>
                <a:cs typeface="Helvetica Neue"/>
              </a:rPr>
              <a:t>Best result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F447EE11-E048-4BC3-92D1-D617B074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867025"/>
            <a:ext cx="1781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344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3444E"/>
                </a:solidFill>
                <a:latin typeface="Helvetica Neue"/>
                <a:ea typeface="Helvetica Neue"/>
                <a:cs typeface="Helvetica Neue"/>
              </a:rPr>
              <a:t>Meaning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27FD87A-E9EE-42D0-8D3C-63A547AF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00400"/>
            <a:ext cx="7096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11A9BB5-383E-408A-BCE9-B41C3C89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86125"/>
            <a:ext cx="125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Monte Carlo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BEF2542-B0AA-43CE-B173-61F05A97C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286125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480M option-pricing paths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16484B15-74E6-455A-B4D6-1EAC1076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86125"/>
            <a:ext cx="135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2.26x speedup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04CF78C0-45BC-4382-9DC8-8AE05BF58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286125"/>
            <a:ext cx="17811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Clean scaling story for independent tasks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3257F9C5-8D3B-4D46-B2EA-D6F64D8F4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57600"/>
            <a:ext cx="7096125" cy="5429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A54061B3-522F-445F-B6BB-AE9CA712D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43325"/>
            <a:ext cx="125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MNIST CNN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A4B382E2-28E0-4AAD-8524-31EDDED3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743325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Real simple CNN on MNIST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47BC17A5-06F8-4809-A7FC-57DE710F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743325"/>
            <a:ext cx="135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1.34x, 96.54%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1BCBEEB9-8FC5-4F9F-9815-97436B1A1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743324"/>
            <a:ext cx="1857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Real training across all nodes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3B1C479C-9677-4D2A-A2D4-912704708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14800"/>
            <a:ext cx="7096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3D12638F-A9D2-47B7-82EC-481D15397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00525"/>
            <a:ext cx="125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Prime count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7B3849E7-226E-4E65-A6AC-A29A42E70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200525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Count primes below a limit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8BBE4F72-D475-455E-B765-BA210540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200525"/>
            <a:ext cx="135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CPU distribution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DFE0C079-1539-425C-964B-6894B194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200525"/>
            <a:ext cx="17811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Deterministic compute smoke test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06FA58CE-3C17-493A-915B-7F7DDF60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0"/>
            <a:ext cx="7096125" cy="5466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6D0F2512-A12F-4B64-A685-05E61C97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57725"/>
            <a:ext cx="125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NumPy/SciPy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5BB56868-0D25-4727-AE8A-98B9C257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657725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Dense math + solve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DBEC1E2A-9DB4-4F10-9625-FE761AC2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657725"/>
            <a:ext cx="135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Limited scaling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DA679B04-BBA0-46AF-A4BA-6D6043A17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657725"/>
            <a:ext cx="17811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Small shared libraries can bottleneck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FF17E704-A262-4422-A44B-1347B141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14650"/>
            <a:ext cx="4043473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AD200D90-D021-4750-B927-BB901AEC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7007" y="3355458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Monte Carlo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75E97B63-ED9F-4AD5-B0D0-A16A203E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49" y="3414602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1"/>
          </a:solidFill>
          <a:ln xmlns:a="http://schemas.openxmlformats.org/drawingml/2006/main" w="0">
            <a:solidFill>
              <a:srgbClr val="E7EE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B7622CEB-A1ED-4940-A8FC-CFC743082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49" y="3414602"/>
            <a:ext cx="1704181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85F81170-8A14-4FD5-947B-5815E5D97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007" y="33718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2.26x</a:t>
            </a: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0741AF72-531C-4339-959F-2220B8B7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7007" y="3926958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MNIST CNN</a:t>
            </a:r>
          </a:p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810715E2-B167-407A-BBBD-9BD7EF998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49" y="3986102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1"/>
          </a:solidFill>
          <a:ln xmlns:a="http://schemas.openxmlformats.org/drawingml/2006/main" w="0">
            <a:solidFill>
              <a:srgbClr val="E7EE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1DF5A23D-BE54-495C-91AA-6D1640B4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49" y="3986102"/>
            <a:ext cx="1011891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1B7A3248-7F13-42FB-BC4C-3E29DF30C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007" y="3940692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1.34x</a:t>
            </a:r>
          </a:p>
        </p:txBody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D1702D52-308C-4991-9ECA-29A65743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101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Speedup over one node</a:t>
            </a:r>
          </a:p>
        </p:txBody>
      </p:sp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26DC73F9-3A83-4D8C-8193-47F7CB5AA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· university lab cluster</a:t>
            </a:r>
          </a:p>
        </p:txBody>
      </p:sp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02C37BC0-093F-4510-8C17-5B96E18D7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5359433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CC4B533B-C926-4543-993F-7971B7560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DISTRIBUTED COMPUTING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0FD8646-5757-417D-9621-8E31C08F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620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The MNIST CNN benchmark has separately editable charts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B282410-1890-4110-B569-CE78A9C3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10871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A"/>
          </a:solidFill>
          <a:ln xmlns:a="http://schemas.openxmlformats.org/drawingml/2006/main" w="0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46CBDD4-F5A4-474D-A508-7ACC6911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These charts are rebuilt from the benchmark JSON instead of pasted as one screenshot, so each graph can be selected, resized, and edited independently in PowerPoint.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3A60679-C18A-4D9F-B6D4-E02A4442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194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Wall time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11B83E6-E0DF-4E62-B084-61E572DB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051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Lower is better; adding nodes reduced total training time.</a:t>
            </a:r>
          </a:p>
        </p:txBody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552450" y="3505200"/>
          <a:ext xmlns:a="http://schemas.openxmlformats.org/drawingml/2006/main" cx="3333750" cy="1981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84f654c5849412f"/>
          </a:graphicData>
        </a:graphic>
      </p:graphicFrame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0E52B40-D3F9-4E2E-BDD9-7E26ECEE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194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Throughput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D7EE83DA-FDF6-4528-A1E4-7B07832A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051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Total train images processed per second across synchronized rounds.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4457700" y="3505200"/>
          <a:ext xmlns:a="http://schemas.openxmlformats.org/drawingml/2006/main" cx="3333750" cy="1981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fe8b97081844d47"/>
          </a:graphicData>
        </a:graphic>
      </p:graphicFrame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7ED5CE8-D72F-4CF9-82CE-CFB544AA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194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Speedup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FD0EB350-6ED7-4C93-8EB9-FBD7CA5D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051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Measured speedup relative to the one-node baseline.</a:t>
            </a:r>
          </a:p>
        </p:txBody>
      </p:sp>
      <p:graphicFrame>
        <p:nvGraphicFramePr>
          <p:cNvPr id="32" name="Chart"/>
          <p:cNvGraphicFramePr/>
          <p:nvPr/>
        </p:nvGraphicFramePr>
        <p:xfrm>
          <a:off xmlns:a="http://schemas.openxmlformats.org/drawingml/2006/main" x="8362950" y="3505200"/>
          <a:ext xmlns:a="http://schemas.openxmlformats.org/drawingml/2006/main" cx="3333750" cy="1981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e218421effc422c"/>
          </a:graphicData>
        </a:graphic>
      </p:graphicFrame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007CFC0-4E5B-4A53-871E-15B7259F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· university lab cluster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5D96B758-CD0C-4267-BEA9-5B91BE338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0045806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41E76C1D-1BC0-4F7B-9F76-CA18CC85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DISTRIBUTED COMPUTING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A081F72-0AFB-4C48-89AA-359EB0A0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620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Accuracy stayed strong while all nodes contributed work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8D2BAD2-F539-479B-A745-78D6B7CF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10871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A"/>
          </a:solidFill>
          <a:ln xmlns:a="http://schemas.openxmlformats.org/drawingml/2006/main" w="0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EE95138-3BED-4A33-8065-643CF10A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The largest run trained the same simple CNN across three selected nodes. The contribution chart shows local training time alongside CPU share, which helps explain the different per-host timings.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4FE6880-34A5-4DB1-9C58-F2F6E7BD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Test accuracy by round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FEB6511-0E67-413F-A622-06E429B5C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Largest three-node run; values are final evaluation after each synchronization round.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552450" y="3543300"/>
          <a:ext xmlns:a="http://schemas.openxmlformats.org/drawingml/2006/main" cx="3333750" cy="18478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93ccca9c4e444b5"/>
          </a:graphicData>
        </a:graphic>
      </p:graphicFrame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B17A42C-A383-461B-B92B-266FB496C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57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Test loss by round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EEA1281-6645-4482-BFB0-37EFE1ED8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432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Loss improved across the synchronized rounds in the three-node run.</a:t>
            </a:r>
          </a:p>
        </p:txBody>
      </p:sp>
      <p:graphicFrame>
        <p:nvGraphicFramePr>
          <p:cNvPr id="32" name="Chart"/>
          <p:cNvGraphicFramePr/>
          <p:nvPr/>
        </p:nvGraphicFramePr>
        <p:xfrm>
          <a:off xmlns:a="http://schemas.openxmlformats.org/drawingml/2006/main" x="4457700" y="3543300"/>
          <a:ext xmlns:a="http://schemas.openxmlformats.org/drawingml/2006/main" cx="3333750" cy="18478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8cc6f512c5d4a4e"/>
          </a:graphicData>
        </a:graphic>
      </p:graphicFrame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2163FC7-52D2-4425-AAE9-B4B7DFEA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57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Per-host train seconds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974C57D2-9AC7-4D2B-8C8C-7DDC911B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432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Each host trained an equal image share in the largest run.</a:t>
            </a:r>
          </a:p>
        </p:txBody>
      </p:sp>
      <p:graphicFrame>
        <p:nvGraphicFramePr>
          <p:cNvPr id="35" name="Chart"/>
          <p:cNvGraphicFramePr/>
          <p:nvPr/>
        </p:nvGraphicFramePr>
        <p:xfrm>
          <a:off xmlns:a="http://schemas.openxmlformats.org/drawingml/2006/main" x="8362950" y="3543300"/>
          <a:ext xmlns:a="http://schemas.openxmlformats.org/drawingml/2006/main" cx="3333750" cy="18478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bc60f5888f542af"/>
          </a:graphicData>
        </a:graphic>
      </p:graphicFrame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3C5E3309-F0AC-442E-92BD-B39F28FA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5626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Abimbolas: 4 CPUs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0E4DC86C-6E52-4F20-8EEC-8D4D3D20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7721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BaddestM4.local: 10 CPUs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05D5587-86EF-4774-9492-5373F73F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981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F6TMFW21C3: 12 CPUs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015A926B-5690-47D2-9397-54A086F6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· university lab cluster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D32258F9-2585-43A5-9E98-41DD31CE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951299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C3F2FFF2-AA1E-4672-8D84-3AB632F58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DISTRIBUTED COMPUTING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DF41EE3-C81E-45FB-9911-29234480F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620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Ray ports are not personal file access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199ADD2-8BBA-46F5-8E6D-19AAA85A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10871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A"/>
          </a:solidFill>
          <a:ln xmlns:a="http://schemas.openxmlformats.org/drawingml/2006/main" w="0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3CDB6BB-4901-406A-A6B7-8C7B639EA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treats ports as a narrow cluster-control channel. The app uses a fixed allowlist, private-network firewall scope, and a dedicated worker account so compute can be shared without turning a laptop into a file server.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3A279ED-E07D-4C83-8C38-072742726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11087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1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EEF5B31-D412-4DF4-8760-25C37F3B9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860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Port or range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D9F4F48-82C0-4874-9AE5-215A0747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8860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What it is for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567A15B-F98F-4A8E-AB86-E6933BD9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860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Security boundary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EF4C14D-5A49-443A-81DA-08C6FC317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62300"/>
            <a:ext cx="11087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50D7AE1-7B2A-4018-8E52-5FDC9FB4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67075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rPr>
              <a:t>6379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02EBDAE-0E68-4D17-B891-32676B360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2670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Ray head / GCS registration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B4AE827-5F2A-46CA-AA9E-5DB9D7BDA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2670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Coordinator port; private lab network only.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773BBA6-8C69-4DF0-B770-36520E9D7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57600"/>
            <a:ext cx="11087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2F1C4F0-5184-42E2-BC75-F131A529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62375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rPr>
              <a:t>8265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CF4321BB-02B3-4FB1-8503-1F5FCEDC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7623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Dashboard and jobs endpoint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DF58F97A-D592-46A3-B423-F61FB1C5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7623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Token/session guarded and not exposed to the internet.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9164CA7-C77D-42CE-A238-2924D585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52900"/>
            <a:ext cx="11087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2DE0E347-D6AC-430C-95E8-ED16352F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57675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rPr>
              <a:t>10001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13F35E9D-EA53-418E-A2D9-915D2559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2576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Optional Ray client traffic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D9F924E1-0A0C-4521-A399-44825819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576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Same private-network scope as the coordinator.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3DDD2CAD-DB39-4D9A-B051-7A9813E6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48200"/>
            <a:ext cx="11087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2B95F9B2-A25C-4E65-9165-DEE16A94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52975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rPr>
              <a:t>18075-18077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7CA27639-9874-436B-944A-965212B12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7529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Preflight and worker callbacks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E4266D24-332B-46EC-A9AF-559B1789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7529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Used to verify bidirectional reachability before startup.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EE3B4CC5-95F8-475E-B60C-6FEE6646E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11087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80024CE9-C580-4934-8A80-27A518AD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48275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rPr>
              <a:t>20000-29999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CEB904A8-0B4C-4D82-B047-2B8FBE7D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2482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Ray worker task ports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D27ADA0-3F01-4E8A-AAF8-72BA1A347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2482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Inbound rules are scoped to coordinator/local subnet.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F54F221-7EDA-4630-85D4-826D614C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0"/>
            <a:ext cx="11087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3"/>
          </a:solidFill>
          <a:ln xmlns:a="http://schemas.openxmlformats.org/drawingml/2006/main" w="9525">
            <a:solidFill>
              <a:srgbClr val="A9D5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04B1DC59-5199-4939-A765-B30616D85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10648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Key distinction: RayLab opens compute coordination, not SMB, AFP, OneDrive, SSH, or arbitrary file sharing.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8AF96BB9-ED37-4B92-8B88-8FB9E125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· university lab cluster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7912E31C-F1B0-4038-A76B-898475B5D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64808477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1C1F816A-9FF0-4ABE-9447-AB465B04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DISTRIBUTED COMPUTING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3AF4D7-30AA-4DA8-AAFC-5825E9674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620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The security case is layered, not just a port number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ED5DB53-BC4A-4DF2-B312-F90F5BCC1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10871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A"/>
          </a:solidFill>
          <a:ln xmlns:a="http://schemas.openxmlformats.org/drawingml/2006/main" w="0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10C78E7-2EB5-472D-BCE4-771C345EA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The answer to the security concern is not 'trust the open port'. It is: restrict who can reach it, keep the port list explicit, run work under a constrained account, and block startup when the network is wrong.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CC5F2D8-6EDA-4141-BBC3-32C08257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76550"/>
            <a:ext cx="50958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17DAFC1-4A84-4686-9126-C5498F5A1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84DF985-60E4-4020-8CB0-C2EF2E2A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861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Fixed allowlist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9DD84B8-6B36-457F-A4AC-E42AC8AB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6710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uses known ports for head, dashboard, client, callback, and task traffic instead of leaving the network surface implicit.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A672D05-644B-48CD-AB87-61A1DD65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76550"/>
            <a:ext cx="50958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357BF8C-D789-4BD2-8353-9CF691A2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0515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2B0405E-45C3-4665-BC83-656FEE903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861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Private network scope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D446E477-B956-4AFD-831D-A4875A70E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6710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Firewall setup allows only the coordinator or local subnet. Public internet and broad campus exposure are out of policy.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9B92A6D0-DD9C-4BCB-80FA-142C2B9CC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50958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20C2CB8F-B319-4C36-973D-07C5968E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0535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F9E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F9E67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A7D60F2A-5F03-4699-AC94-6C0D9C46B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863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Dedicated worker account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03B79BC1-A24E-4B7F-80E4-7D7A656A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Worker jobs run under the RayLab worker identity, separating contributed compute from a participant's normal desktop profile.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180A6954-808A-483E-BB45-4F15DC42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76750"/>
            <a:ext cx="50958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4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1918835D-A966-4505-A7A6-9FFDE12E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0535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B45309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07E26AF5-1868-45E4-BC8D-7D08E6BF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863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Preflight and audit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175FE6D3-151F-47B1-82FB-3572856B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06730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Network checks verify the callback path before Ray starts, and setup/terminal logs show what was opened or changed.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5ECE29FC-5673-4FD2-87F6-EB5F35AB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24549"/>
            <a:ext cx="10715625" cy="5333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3"/>
          </a:solidFill>
          <a:ln xmlns:a="http://schemas.openxmlformats.org/drawingml/2006/main" w="9525">
            <a:solidFill>
              <a:srgbClr val="A9D5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0446B853-52AC-4A12-BCC0-207EFF32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00750"/>
            <a:ext cx="10648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Positioning for colleagues: </a:t>
            </a:r>
            <a:r>
              <a:rPr sz="11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RayLab</a:t>
            </a:r>
            <a:r>
              <a:rPr sz="11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 shares compute capacity, not personal folders. File access still follows the operating-system account, folder permissions, and explicit data paths chosen for the job.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A98E080B-70DC-4571-8264-327DB0F7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66908919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DB5879F6-21E6-4827-890A-736FE618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What we can do next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6D47980-0472-4C93-A381-698360CB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838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The prototype is far enough to demonstrate value. The next step is to pick two or three real lab workloads and make RayLab the easiest way to run them together.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FDC97FC-6395-4793-B8BB-64F69470E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051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0EE47A8-3A8A-4CB4-9AD2-966F6AE2F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861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Package a reproducible demo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17E97A9-F2AF-4141-902D-668FABD8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Keep Monte Carlo and MNIST as the baseline demos for new machines.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C597082-C573-489F-A2CA-20764195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814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594E215-AA03-4CA0-A481-9E02DFE0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Invite a small pilot group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5A2D7D3-BECE-4C77-A013-E25084B3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05300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Test with colleagues who already run Python, ML, or simulation jobs.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DDF0310-4C6D-4D32-96BE-2A2CD1ED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5F74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19530E0-C104-47B4-A545-11E8B7DA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38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F1720"/>
                </a:solidFill>
                <a:latin typeface="Helvetica Neue"/>
                <a:ea typeface="Helvetica Neue"/>
                <a:cs typeface="Helvetica Neue"/>
              </a:rPr>
              <a:t>Add workload templates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F145B84-D3E8-4E96-BC1B-6BC5DEB8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81600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Make common jobs one-click: batch inference, Ray Tune sweeps, and data transforms.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41663E87-E864-4C8E-B8D5-1C7C20DB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3903" y="3533775"/>
            <a:ext cx="3523807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Distributed computing becomes useful when it feels ordinary enough to try.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2E04FB7-4767-4978-AF47-91914771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RayLab · university lab cluster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0F6A3142-98BA-4241-A53E-74C8DCCF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62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36D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7821306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2026-08-16T17:55:16.1320000Z</dcterms:created>
  <dcterms:modified xsi:type="dcterms:W3CDTF">2026-08-16T17:55:16.1320000Z</dcterms:modified>
</coreProperties>
</file>