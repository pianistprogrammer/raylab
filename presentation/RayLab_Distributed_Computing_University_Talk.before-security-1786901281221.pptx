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Wall time</c:v>
          </c:tx>
          <c:spPr>
            <a:solidFill>
              <a:srgbClr val="2563E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64748B"/>
              </a:solidFill>
            </c:spPr>
            <c:extLst>
              <c:ext xmlns:c16="http://schemas.microsoft.com/office/drawing/2014/chart" uri="{C3380CC4-5D6E-409C-BE32-E72D297353CC}">
                <c16:uniqueId val="{00000001-62B6-374A-9292-1BB42D20D4B5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</c:spPr>
            <c:extLst>
              <c:ext xmlns:c16="http://schemas.microsoft.com/office/drawing/2014/chart" uri="{C3380CC4-5D6E-409C-BE32-E72D297353CC}">
                <c16:uniqueId val="{00000003-62B6-374A-9292-1BB42D20D4B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2B6-374A-9292-1BB42D20D4B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0F172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0.0</c:formatCode>
              <c:ptCount val="3"/>
              <c:pt idx="0">
                <c:v>18.600000000000001</c:v>
              </c:pt>
              <c:pt idx="1">
                <c:v>15.1</c:v>
              </c:pt>
              <c:pt idx="2">
                <c:v>13.8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62B6-374A-9292-1BB42D20D4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3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CEF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2636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Throughput</c:v>
          </c:tx>
          <c:spPr>
            <a:solidFill>
              <a:srgbClr val="0F766E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64748B"/>
              </a:solidFill>
            </c:spPr>
            <c:extLst>
              <c:ext xmlns:c16="http://schemas.microsoft.com/office/drawing/2014/chart" uri="{C3380CC4-5D6E-409C-BE32-E72D297353CC}">
                <c16:uniqueId val="{00000001-C79D-904C-B4BD-9821772F4B0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79D-904C-B4BD-9821772F4B01}"/>
              </c:ext>
            </c:extLst>
          </c:dPt>
          <c:dPt>
            <c:idx val="2"/>
            <c:invertIfNegative val="0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5-C79D-904C-B4BD-9821772F4B0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0F172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#,##0</c:formatCode>
              <c:ptCount val="3"/>
              <c:pt idx="0">
                <c:v>6466.5885836829448</c:v>
              </c:pt>
              <c:pt idx="1">
                <c:v>7967.3724942072404</c:v>
              </c:pt>
              <c:pt idx="2">
                <c:v>8677.6421677631097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C79D-904C-B4BD-9821772F4B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3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CEF"/>
              </a:solidFill>
              <a:prstDash val="solid"/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2636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Speedup</c:v>
          </c:tx>
          <c:spPr>
            <a:ln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2563EB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0F172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0.00\x</c:formatCode>
              <c:ptCount val="3"/>
              <c:pt idx="0">
                <c:v>1</c:v>
              </c:pt>
              <c:pt idx="1">
                <c:v>1.2320827884908596</c:v>
              </c:pt>
              <c:pt idx="2">
                <c:v>1.3419196312657475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9ADF-7A42-A248-08BFEB3F5A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3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CEF"/>
              </a:solidFill>
              <a:prstDash val="solid"/>
            </a:ln>
          </c:spPr>
        </c:majorGridlines>
        <c:numFmt formatCode="0.00\x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2636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Test accuracy by round</c:v>
          </c:tx>
          <c:spPr>
            <a:ln w="28575">
              <a:solidFill>
                <a:srgbClr val="0F766E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0F766E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0F172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0.0%</c:formatCode>
              <c:ptCount val="5"/>
              <c:pt idx="0">
                <c:v>0.93540000000000001</c:v>
              </c:pt>
              <c:pt idx="1">
                <c:v>0.9536</c:v>
              </c:pt>
              <c:pt idx="2">
                <c:v>0.95879999999999999</c:v>
              </c:pt>
              <c:pt idx="3">
                <c:v>0.96779999999999999</c:v>
              </c:pt>
              <c:pt idx="4">
                <c:v>0.96540000000000004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BD03-054C-A6A6-4713AAF9A0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3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CEF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2636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Test loss by round</c:v>
          </c:tx>
          <c:spPr>
            <a:ln w="28575">
              <a:solidFill>
                <a:srgbClr val="B45309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B45309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0F172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0.000</c:formatCode>
              <c:ptCount val="5"/>
              <c:pt idx="0">
                <c:v>0.21920817413330079</c:v>
              </c:pt>
              <c:pt idx="1">
                <c:v>0.15223594779968261</c:v>
              </c:pt>
              <c:pt idx="2">
                <c:v>0.12905887775421143</c:v>
              </c:pt>
              <c:pt idx="3">
                <c:v>0.10609913930892945</c:v>
              </c:pt>
              <c:pt idx="4">
                <c:v>0.10275714540481568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D5AA-7343-9002-9DB4544E6A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3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CEF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2636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Per-host train seconds</c:v>
          </c:tx>
          <c:spPr>
            <a:solidFill>
              <a:srgbClr val="2563E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64748B"/>
              </a:solidFill>
            </c:spPr>
            <c:extLst>
              <c:ext xmlns:c16="http://schemas.microsoft.com/office/drawing/2014/chart" uri="{C3380CC4-5D6E-409C-BE32-E72D297353CC}">
                <c16:uniqueId val="{00000001-84CE-9E45-A6A0-6A68937BDD8C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</c:spPr>
            <c:extLst>
              <c:ext xmlns:c16="http://schemas.microsoft.com/office/drawing/2014/chart" uri="{C3380CC4-5D6E-409C-BE32-E72D297353CC}">
                <c16:uniqueId val="{00000003-84CE-9E45-A6A0-6A68937BDD8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4CE-9E45-A6A0-6A68937BDD8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0F172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Abimbolas</c:v>
              </c:pt>
              <c:pt idx="1">
                <c:v>BaddestM4.local</c:v>
              </c:pt>
              <c:pt idx="2">
                <c:v>F6TMFW21C3</c:v>
              </c:pt>
            </c:strLit>
          </c:cat>
          <c:val>
            <c:numLit>
              <c:formatCode>0.0</c:formatCode>
              <c:ptCount val="3"/>
              <c:pt idx="0">
                <c:v>4.3</c:v>
              </c:pt>
              <c:pt idx="1">
                <c:v>2.7</c:v>
              </c:pt>
              <c:pt idx="2">
                <c:v>1.5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84CE-9E45-A6A0-6A68937BDD8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3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CEF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2636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project: RayDesktop / RayLab application and benchmark folder.</a:t>
            </a:r>
          </a:p>
          <a:p>
            <a:r>
              <a:t>Ray documentation for distributed compute concepts: https://docs.ray.io/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Agenda derived from the user's requested topics for a university colleague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Ray documentation describes Ray as a framework for scaling Python and AI workloads across clusters: https://docs.ray.io/</a:t>
            </a:r>
          </a:p>
          <a:p>
            <a:r>
              <a:t>Benefits framed from local RayLab prototype behavior and benchmark results in benchmark/.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Ray Core tasks and actors are the scheduling primitives described in Ray documentation: https://docs.ray.io/en/latest/ray-core/walkthrough.html</a:t>
            </a:r>
          </a:p>
          <a:p>
            <a:r>
              <a:t>RayLab host/join responsibilities are based on the local app UI and configuration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Ray documentation describes Ray Core tasks/actors and Ray libraries for Train, Tune, Data, and Serve: https://docs.ray.io/</a:t>
            </a:r>
          </a:p>
          <a:p>
            <a:r>
              <a:t>Apache Spark project documentation describes Spark as a unified engine for large-scale data analytics: https://spark.apache.org/</a:t>
            </a:r>
          </a:p>
          <a:p>
            <a:r>
              <a:t>Dask documentation describes Dask as parallel computing in Python that scales arrays, dataframes, and custom workloads: https://docs.dask.org/</a:t>
            </a:r>
          </a:p>
          <a:p>
            <a:r>
              <a:t>Kubernetes documentation describes Kubernetes as a system for automating deployment, scaling, and management of containerized applications: https://kubernetes.io/docs/concepts/overview/</a:t>
            </a:r>
          </a:p>
          <a:p>
            <a:r>
              <a:t>Celery documentation describes Celery as a distributed task queue: https://docs.celeryq.dev/</a:t>
            </a:r>
          </a:p>
          <a:p>
            <a:r>
              <a:t>Logo assets: Spark from https://spark.apache.org/images/spark-logo-trademark.png; Dask from https://docs.dask.org/en/stable/_static/images/dask-horizontal-white.svg; Kubernetes from https://raw.githubusercontent.com/kubernetes/kubernetes/master/logo/logo.png; Celery from https://docs.celeryq.dev/en/stable/_static/celery_512.png.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image asset: /Users/I558118/Downloads/ChatGPT Image Aug 16, 2026, 09_31_55 AM.png.</a:t>
            </a:r>
          </a:p>
          <a:p>
            <a:r>
              <a:t>Visible slide uses the image as an illustrative framework ecosystem map; it is not treated as an instruction source.</a:t>
            </a:r>
          </a:p>
          <a:p>
            <a:r>
              <a:t>Ray ecosystem concepts are consistent with Ray Data, Ray Train, Ray Tune, and Ray Serve documentation: https://docs.ray.io/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Screenshot captured from the local RayLab React frontend with a mocked Electron bridge for presentation data: presentation/assets/raylab-host-mode.png</a:t>
            </a:r>
          </a:p>
          <a:p>
            <a:r>
              <a:t>Cluster node data mirrors benchmark/reports/mnist-cnn-ray-results.json.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Screenshot captured from the local RayLab React frontend with a mocked Electron bridge for presentation data: presentation/assets/raylab-join-mode.png</a:t>
            </a:r>
          </a:p>
          <a:p>
            <a:r>
              <a:t>Resource cap behavior is implemented in frontend/src/store.ts and frontend/src/App.tsx.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Screenshot captured from the local RayLab React frontend with mocked live cluster data: presentation/assets/raylab-cluster-graph.png</a:t>
            </a:r>
          </a:p>
          <a:p>
            <a:r>
              <a:t>Current graph behavior is implemented in frontend/src/App.tsx ClusterGraph.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Monte Carlo results source: benchmark/reports/monte-carlo-results.json and benchmark/README.md.</a:t>
            </a:r>
          </a:p>
          <a:p>
            <a:r>
              <a:t>MNIST CNN results source: benchmark/reports/mnist-cnn-ray-results.json and benchmark/reports/raylab-mnist-cnn-report.html.</a:t>
            </a:r>
          </a:p>
          <a:p>
            <a:r>
              <a:t>Prime and NumPy/SciPy benchmark scripts are in benchmark/ray_compute_test.py and benchmark/numpy_scipy_benchmark.py.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MNIST benchmark source data: benchmark/reports/mnist-cnn-ray-results.json.</a:t>
            </a:r>
          </a:p>
          <a:p>
            <a:r>
              <a:t>Charts are native PowerPoint chart objects generated from the JSON results rather than a single flattened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MNIST benchmark source data: benchmark/reports/mnist-cnn-ray-results.json.</a:t>
            </a:r>
          </a:p>
          <a:p>
            <a:r>
              <a:t>Node CPU counts and per-host contribution are from nodes_selected and the largest run's by_host/history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Next steps synthesized from local RayLab prototype state and benchmark outcomes.</a:t>
            </a:r>
          </a:p>
          <a:p>
            <a:r>
              <a:t>Ray documentation for Ray Tune, Ray Train, and Ray Data: https://docs.ray.io/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13E8EA-DFEA-4C70-94E9-41074F1E7F16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RAYLAB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51577-4042-44CA-AF19-E472117C5CF6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8667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2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dirty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Turning ordinary lab machines into a distributed compute cluster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E3BD44-2B66-4D31-9571-48F62DB59874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7524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practical university proof-of-concept using Ray, a desktop app, and real benchmarks across Windows and macOS nodes.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6FB035-1012-41EB-B888-2AE160FE5842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7239000" cy="13335"/>
          </a:xfrm>
          <a:prstGeom prst="rect">
            <a:avLst/>
          </a:prstGeom>
          <a:solidFill>
            <a:srgbClr val="1D5F74"/>
          </a:solidFill>
          <a:ln w="0">
            <a:solidFill>
              <a:srgbClr val="1D5F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F23636-9628-429E-B2DE-3C92E47F4F65}"/>
              </a:ext>
            </a:extLst>
          </p:cNvPr>
          <p:cNvSpPr>
            <a:spLocks noGrp="1"/>
          </p:cNvSpPr>
          <p:nvPr/>
        </p:nvSpPr>
        <p:spPr>
          <a:xfrm>
            <a:off x="552450" y="558165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Jeremiah Abimbola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153665-6CE0-4A9D-9F01-E3F0EEDBCCAB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9E8BC0-D98F-4D9A-82A5-3D4F64D4AC91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566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9E7973E-9C23-4331-BD76-5886117A1A3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E82C0F-3CE6-4691-B7D7-9F0EC05960C8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will cover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7666F5-E589-49FA-A4A1-506A854FC556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8FAF4E-7DAC-4A88-9A78-C28935649027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3733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FA3A-B411-4E45-87EB-1A386935D046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476250"/>
          </a:xfrm>
          <a:prstGeom prst="rect">
            <a:avLst/>
          </a:prstGeom>
          <a:solidFill>
            <a:srgbClr val="E7EEF1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F78CEF-7849-43AE-B0BB-D53E28F3A965}"/>
              </a:ext>
            </a:extLst>
          </p:cNvPr>
          <p:cNvSpPr>
            <a:spLocks noGrp="1"/>
          </p:cNvSpPr>
          <p:nvPr/>
        </p:nvSpPr>
        <p:spPr>
          <a:xfrm>
            <a:off x="647700" y="19716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0EB41F-A488-426B-BBDD-B63361E89AD5}"/>
              </a:ext>
            </a:extLst>
          </p:cNvPr>
          <p:cNvSpPr>
            <a:spLocks noGrp="1"/>
          </p:cNvSpPr>
          <p:nvPr/>
        </p:nvSpPr>
        <p:spPr>
          <a:xfrm>
            <a:off x="1504950" y="197167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Why distributed work matters for a university group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027933-719C-4391-861D-AA3D73D2CA5C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11087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4F6D7A-F47B-4591-BEE8-961FACCF0D23}"/>
              </a:ext>
            </a:extLst>
          </p:cNvPr>
          <p:cNvSpPr>
            <a:spLocks noGrp="1"/>
          </p:cNvSpPr>
          <p:nvPr/>
        </p:nvSpPr>
        <p:spPr>
          <a:xfrm>
            <a:off x="647700" y="244792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3E1735-7218-4748-BCB7-2F0BD9176AB5}"/>
              </a:ext>
            </a:extLst>
          </p:cNvPr>
          <p:cNvSpPr>
            <a:spLocks noGrp="1"/>
          </p:cNvSpPr>
          <p:nvPr/>
        </p:nvSpPr>
        <p:spPr>
          <a:xfrm>
            <a:off x="1504950" y="244792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How Ray and RayLab organize machines into one cluster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5A14A-B62A-42BB-BAA7-CFC81D19C71C}"/>
              </a:ext>
            </a:extLst>
          </p:cNvPr>
          <p:cNvSpPr>
            <a:spLocks noGrp="1"/>
          </p:cNvSpPr>
          <p:nvPr/>
        </p:nvSpPr>
        <p:spPr>
          <a:xfrm>
            <a:off x="552450" y="2838450"/>
            <a:ext cx="11087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52176D-EAD8-4A00-91FB-3C64C2BED52D}"/>
              </a:ext>
            </a:extLst>
          </p:cNvPr>
          <p:cNvSpPr>
            <a:spLocks noGrp="1"/>
          </p:cNvSpPr>
          <p:nvPr/>
        </p:nvSpPr>
        <p:spPr>
          <a:xfrm>
            <a:off x="647700" y="29241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BEE582-80C5-499D-893D-DE2FE5663129}"/>
              </a:ext>
            </a:extLst>
          </p:cNvPr>
          <p:cNvSpPr>
            <a:spLocks noGrp="1"/>
          </p:cNvSpPr>
          <p:nvPr/>
        </p:nvSpPr>
        <p:spPr>
          <a:xfrm>
            <a:off x="1504950" y="292417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host mode and join mode look like in the desktop 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EA61BA-514B-4A2B-9185-88B6C400E788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11087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4C29D7-A709-44C2-92C9-A909394CAFBE}"/>
              </a:ext>
            </a:extLst>
          </p:cNvPr>
          <p:cNvSpPr>
            <a:spLocks noGrp="1"/>
          </p:cNvSpPr>
          <p:nvPr/>
        </p:nvSpPr>
        <p:spPr>
          <a:xfrm>
            <a:off x="647700" y="340042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35F57D-848B-49D8-A671-298A0D2E7F53}"/>
              </a:ext>
            </a:extLst>
          </p:cNvPr>
          <p:cNvSpPr>
            <a:spLocks noGrp="1"/>
          </p:cNvSpPr>
          <p:nvPr/>
        </p:nvSpPr>
        <p:spPr>
          <a:xfrm>
            <a:off x="1504950" y="340042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Similar tools, and why we chose Ray for this prototype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4FA82B-6EEA-48C3-92E6-F89815E8CB11}"/>
              </a:ext>
            </a:extLst>
          </p:cNvPr>
          <p:cNvSpPr>
            <a:spLocks noGrp="1"/>
          </p:cNvSpPr>
          <p:nvPr/>
        </p:nvSpPr>
        <p:spPr>
          <a:xfrm>
            <a:off x="552450" y="3790950"/>
            <a:ext cx="11087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AFFC41-EA75-4674-AFBF-0958AF1A809D}"/>
              </a:ext>
            </a:extLst>
          </p:cNvPr>
          <p:cNvSpPr>
            <a:spLocks noGrp="1"/>
          </p:cNvSpPr>
          <p:nvPr/>
        </p:nvSpPr>
        <p:spPr>
          <a:xfrm>
            <a:off x="647700" y="38766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EA7809-7D8D-4903-BDCD-51100FBC4944}"/>
              </a:ext>
            </a:extLst>
          </p:cNvPr>
          <p:cNvSpPr>
            <a:spLocks noGrp="1"/>
          </p:cNvSpPr>
          <p:nvPr/>
        </p:nvSpPr>
        <p:spPr>
          <a:xfrm>
            <a:off x="1504950" y="387667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How common machine-learning frameworks connect to Ray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251132-0401-4269-B8E2-352519C0A960}"/>
              </a:ext>
            </a:extLst>
          </p:cNvPr>
          <p:cNvSpPr>
            <a:spLocks noGrp="1"/>
          </p:cNvSpPr>
          <p:nvPr/>
        </p:nvSpPr>
        <p:spPr>
          <a:xfrm>
            <a:off x="552450" y="4267200"/>
            <a:ext cx="11087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1CDD73-65E6-4AEF-A5BD-094C6B36CDC9}"/>
              </a:ext>
            </a:extLst>
          </p:cNvPr>
          <p:cNvSpPr>
            <a:spLocks noGrp="1"/>
          </p:cNvSpPr>
          <p:nvPr/>
        </p:nvSpPr>
        <p:spPr>
          <a:xfrm>
            <a:off x="647700" y="435292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A91E9D-D387-4960-9B12-EEAD2205040D}"/>
              </a:ext>
            </a:extLst>
          </p:cNvPr>
          <p:cNvSpPr>
            <a:spLocks noGrp="1"/>
          </p:cNvSpPr>
          <p:nvPr/>
        </p:nvSpPr>
        <p:spPr>
          <a:xfrm>
            <a:off x="1504950" y="435292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benchmarks we ran and what they proved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E15F44-7E46-4DF8-8522-428DC4B934ED}"/>
              </a:ext>
            </a:extLst>
          </p:cNvPr>
          <p:cNvSpPr>
            <a:spLocks noGrp="1"/>
          </p:cNvSpPr>
          <p:nvPr/>
        </p:nvSpPr>
        <p:spPr>
          <a:xfrm>
            <a:off x="552450" y="4743450"/>
            <a:ext cx="11087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523871-C643-411B-A732-5A6CFDD60307}"/>
              </a:ext>
            </a:extLst>
          </p:cNvPr>
          <p:cNvSpPr>
            <a:spLocks noGrp="1"/>
          </p:cNvSpPr>
          <p:nvPr/>
        </p:nvSpPr>
        <p:spPr>
          <a:xfrm>
            <a:off x="647700" y="48291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9D26DB-2028-4FEB-A06E-0333932D7694}"/>
              </a:ext>
            </a:extLst>
          </p:cNvPr>
          <p:cNvSpPr>
            <a:spLocks noGrp="1"/>
          </p:cNvSpPr>
          <p:nvPr/>
        </p:nvSpPr>
        <p:spPr>
          <a:xfrm>
            <a:off x="1504950" y="482917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can try next as a lab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9509C8-1130-4482-BE4E-066DD47CDC2E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1D5BF3-12B1-4E9C-939D-4E5ECCF7E552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9064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F6D6C41-76E4-462D-A312-7959860500E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981FAC-AC3F-4246-9A09-90DD205C0F45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opportunity is already sitting on our desks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CDD2BD-0EB0-4EA1-90D0-34D213E20B0A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79ADC8-176B-4A20-87F3-EF7766693171}"/>
              </a:ext>
            </a:extLst>
          </p:cNvPr>
          <p:cNvSpPr>
            <a:spLocks noGrp="1"/>
          </p:cNvSpPr>
          <p:nvPr/>
        </p:nvSpPr>
        <p:spPr>
          <a:xfrm>
            <a:off x="552450" y="1943100"/>
            <a:ext cx="10287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Most labs have idle CPU, RAM, and sometimes GPU capacity spread across personal workstations. RayLab shows a path to turn that idle capacity into a shared compute surface without asking everyone to become a cluster administrator.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510DA-B444-4990-A83E-0ECDBD1663F5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3238500" cy="1790700"/>
          </a:xfrm>
          <a:prstGeom prst="rect">
            <a:avLst/>
          </a:prstGeom>
          <a:solidFill>
            <a:srgbClr val="EAF5F3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42D0CF-5969-4C1F-99A1-1B8039DEE63E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More useful compute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C7580-718B-4721-91E1-13644B3B0533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285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Batch simulations, model training, data transforms, and inference jobs can use multiple machines instead of one laptop.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ABBAA7-4504-44B4-A8E9-67954D2A81DB}"/>
              </a:ext>
            </a:extLst>
          </p:cNvPr>
          <p:cNvSpPr>
            <a:spLocks noGrp="1"/>
          </p:cNvSpPr>
          <p:nvPr/>
        </p:nvSpPr>
        <p:spPr>
          <a:xfrm>
            <a:off x="4267200" y="3333750"/>
            <a:ext cx="3238500" cy="1790700"/>
          </a:xfrm>
          <a:prstGeom prst="rect">
            <a:avLst/>
          </a:prstGeom>
          <a:solidFill>
            <a:srgbClr val="EDF2F4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CEA8EC-B4AF-4631-9D45-B3B28CADE3B0}"/>
              </a:ext>
            </a:extLst>
          </p:cNvPr>
          <p:cNvSpPr>
            <a:spLocks noGrp="1"/>
          </p:cNvSpPr>
          <p:nvPr/>
        </p:nvSpPr>
        <p:spPr>
          <a:xfrm>
            <a:off x="4457700" y="35623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Lower barrier to entry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D2098D-2A8D-4F75-8A46-51FD7A369005}"/>
              </a:ext>
            </a:extLst>
          </p:cNvPr>
          <p:cNvSpPr>
            <a:spLocks noGrp="1"/>
          </p:cNvSpPr>
          <p:nvPr/>
        </p:nvSpPr>
        <p:spPr>
          <a:xfrm>
            <a:off x="4457700" y="4057650"/>
            <a:ext cx="285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desktop host/join flow hides the operational details: ports, setup checks, worker accounts, Docker, and logs.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EB3F18-647C-4309-981A-46842335A094}"/>
              </a:ext>
            </a:extLst>
          </p:cNvPr>
          <p:cNvSpPr>
            <a:spLocks noGrp="1"/>
          </p:cNvSpPr>
          <p:nvPr/>
        </p:nvSpPr>
        <p:spPr>
          <a:xfrm>
            <a:off x="7981950" y="3333750"/>
            <a:ext cx="3238500" cy="1790700"/>
          </a:xfrm>
          <a:prstGeom prst="rect">
            <a:avLst/>
          </a:prstGeom>
          <a:solidFill>
            <a:srgbClr val="EDF2F4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9AF4C3-03AA-451E-A1ED-F5BBD2B52CFA}"/>
              </a:ext>
            </a:extLst>
          </p:cNvPr>
          <p:cNvSpPr>
            <a:spLocks noGrp="1"/>
          </p:cNvSpPr>
          <p:nvPr/>
        </p:nvSpPr>
        <p:spPr>
          <a:xfrm>
            <a:off x="8172450" y="35623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Better demos and teaching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8E9BC9-607D-4DCC-998D-D1DB4B1ED5B3}"/>
              </a:ext>
            </a:extLst>
          </p:cNvPr>
          <p:cNvSpPr>
            <a:spLocks noGrp="1"/>
          </p:cNvSpPr>
          <p:nvPr/>
        </p:nvSpPr>
        <p:spPr>
          <a:xfrm>
            <a:off x="8172450" y="4191443"/>
            <a:ext cx="285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Students and colleagues can see distributed systems concepts using machines they recognize.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B6A1B-582F-4B8B-B9C6-E2C4D2856F71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00333F-73B2-430C-8A6B-1854AD94EBEE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867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6A1AB0B-D48C-4B4D-9A25-C3360A0DA08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C8CEE5-5CF1-429B-8F63-8485AE328CDC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RayLab separates orchestration from contribution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D1B4BD-B09A-4DF9-9680-9D44BE604DF6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BFC0CA-657C-4D29-933C-54B10CF70401}"/>
              </a:ext>
            </a:extLst>
          </p:cNvPr>
          <p:cNvSpPr>
            <a:spLocks noGrp="1"/>
          </p:cNvSpPr>
          <p:nvPr/>
        </p:nvSpPr>
        <p:spPr>
          <a:xfrm>
            <a:off x="552450" y="2190750"/>
            <a:ext cx="2762250" cy="1714500"/>
          </a:xfrm>
          <a:prstGeom prst="rect">
            <a:avLst/>
          </a:prstGeom>
          <a:solidFill>
            <a:srgbClr val="EAF5F3"/>
          </a:solidFill>
          <a:ln w="9525">
            <a:solidFill>
              <a:srgbClr val="A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DE2AA7-8691-48B6-9FAD-775EFCB9196A}"/>
              </a:ext>
            </a:extLst>
          </p:cNvPr>
          <p:cNvSpPr>
            <a:spLocks noGrp="1"/>
          </p:cNvSpPr>
          <p:nvPr/>
        </p:nvSpPr>
        <p:spPr>
          <a:xfrm>
            <a:off x="781050" y="24193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Host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FB89F-D6B1-40E0-AB19-BBE138C9DAB8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219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Runs the Ray head node, dashboard, job submission endpoint, and live cluster graph.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C8EDCF-1D82-4B1E-98ED-A3F453C53709}"/>
              </a:ext>
            </a:extLst>
          </p:cNvPr>
          <p:cNvSpPr>
            <a:spLocks noGrp="1"/>
          </p:cNvSpPr>
          <p:nvPr/>
        </p:nvSpPr>
        <p:spPr>
          <a:xfrm>
            <a:off x="4514850" y="2512697"/>
            <a:ext cx="2762249" cy="1228721"/>
          </a:xfrm>
          <a:prstGeom prst="rect">
            <a:avLst/>
          </a:prstGeom>
          <a:solidFill>
            <a:srgbClr val="F8FAFB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D77416-CD3A-4499-8682-8BC9594D8E0B}"/>
              </a:ext>
            </a:extLst>
          </p:cNvPr>
          <p:cNvSpPr>
            <a:spLocks noGrp="1"/>
          </p:cNvSpPr>
          <p:nvPr/>
        </p:nvSpPr>
        <p:spPr>
          <a:xfrm>
            <a:off x="4800601" y="2655573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dirty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A5B758-3237-46DB-8C87-03469E5E0B1B}"/>
              </a:ext>
            </a:extLst>
          </p:cNvPr>
          <p:cNvSpPr>
            <a:spLocks noGrp="1"/>
          </p:cNvSpPr>
          <p:nvPr/>
        </p:nvSpPr>
        <p:spPr>
          <a:xfrm>
            <a:off x="4800601" y="3027048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schedules tasks and actors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30FC47-D81F-41F0-A300-273FA44A2194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762250" cy="1714500"/>
          </a:xfrm>
          <a:prstGeom prst="rect">
            <a:avLst/>
          </a:prstGeom>
          <a:solidFill>
            <a:srgbClr val="EEF4FF"/>
          </a:solidFill>
          <a:ln w="9525">
            <a:solidFill>
              <a:srgbClr val="B8C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796040-4E5A-4334-B8BC-CCB7CC9389B3}"/>
              </a:ext>
            </a:extLst>
          </p:cNvPr>
          <p:cNvSpPr>
            <a:spLocks noGrp="1"/>
          </p:cNvSpPr>
          <p:nvPr/>
        </p:nvSpPr>
        <p:spPr>
          <a:xfrm>
            <a:off x="8705850" y="24193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Join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A6968E-BFC2-4709-916E-41D502926D94}"/>
              </a:ext>
            </a:extLst>
          </p:cNvPr>
          <p:cNvSpPr>
            <a:spLocks noGrp="1"/>
          </p:cNvSpPr>
          <p:nvPr/>
        </p:nvSpPr>
        <p:spPr>
          <a:xfrm>
            <a:off x="8705850" y="2914650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Offers local CPU, RAM, and GPU capacity under machine setup, schedule, and privacy controls.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2E6C7E-6FD5-4E7E-9AD5-02AAADF67F40}"/>
              </a:ext>
            </a:extLst>
          </p:cNvPr>
          <p:cNvSpPr>
            <a:spLocks noGrp="1"/>
          </p:cNvSpPr>
          <p:nvPr/>
        </p:nvSpPr>
        <p:spPr>
          <a:xfrm>
            <a:off x="552450" y="46291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key design idea: each machine remains locally controlled, while Ray gives the group a shared programming model for distributed jobs.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6D2693-946E-4867-890A-42B913FF8000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9EC3A4-2CEE-4DF1-A89C-D41946525D7F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1562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E99BC9D-CE84-457B-9ED7-B7C77D20E0C8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C6A955-6832-4120-AD2E-588545BFDEAD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fits the lab better than adjacent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EEA91D-C614-43D0-9B33-E42A7C82C8C4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F0F538-A119-42C1-A98F-5458A0EBC518}"/>
              </a:ext>
            </a:extLst>
          </p:cNvPr>
          <p:cNvSpPr>
            <a:spLocks noGrp="1"/>
          </p:cNvSpPr>
          <p:nvPr/>
        </p:nvSpPr>
        <p:spPr>
          <a:xfrm>
            <a:off x="552450" y="1924050"/>
            <a:ext cx="10344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alternatives are excellent, but they each optimize for a narrower layer. Ray gave us one Python-first runtime for tasks, actors, training, tuning, data, and serving on machines people already own.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AB4172-C8FE-4DAA-8BCE-7DF2A6111DCC}"/>
              </a:ext>
            </a:extLst>
          </p:cNvPr>
          <p:cNvSpPr>
            <a:spLocks noGrp="1"/>
          </p:cNvSpPr>
          <p:nvPr/>
        </p:nvSpPr>
        <p:spPr>
          <a:xfrm>
            <a:off x="552450" y="2819400"/>
            <a:ext cx="5143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B58A5D-B9BE-4BD4-95FF-82075C77CE46}"/>
              </a:ext>
            </a:extLst>
          </p:cNvPr>
          <p:cNvSpPr>
            <a:spLocks noGrp="1"/>
          </p:cNvSpPr>
          <p:nvPr/>
        </p:nvSpPr>
        <p:spPr>
          <a:xfrm>
            <a:off x="723900" y="3009900"/>
            <a:ext cx="781050" cy="609600"/>
          </a:xfrm>
          <a:prstGeom prst="rect">
            <a:avLst/>
          </a:prstGeom>
          <a:solidFill>
            <a:srgbClr val="F8FAFB"/>
          </a:solidFill>
          <a:ln w="9525">
            <a:solidFill>
              <a:srgbClr val="D9E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" y="3157639"/>
            <a:ext cx="590550" cy="31412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7ED28D-A8D8-44C0-A9B6-084ABFA69915}"/>
              </a:ext>
            </a:extLst>
          </p:cNvPr>
          <p:cNvSpPr>
            <a:spLocks noGrp="1"/>
          </p:cNvSpPr>
          <p:nvPr/>
        </p:nvSpPr>
        <p:spPr>
          <a:xfrm>
            <a:off x="1676400" y="30099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Apache Spark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B87938-07B9-4456-8301-01B50BAF5D32}"/>
              </a:ext>
            </a:extLst>
          </p:cNvPr>
          <p:cNvSpPr>
            <a:spLocks noGrp="1"/>
          </p:cNvSpPr>
          <p:nvPr/>
        </p:nvSpPr>
        <p:spPr>
          <a:xfrm>
            <a:off x="1676400" y="33718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Large-scale SQL, ETL, and data processing.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F11533-A605-47C9-9C36-972ACDAB6671}"/>
              </a:ext>
            </a:extLst>
          </p:cNvPr>
          <p:cNvSpPr>
            <a:spLocks noGrp="1"/>
          </p:cNvSpPr>
          <p:nvPr/>
        </p:nvSpPr>
        <p:spPr>
          <a:xfrm>
            <a:off x="1676400" y="38100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Less natural for Python-native actors, mixed ML workloads, and interactive desktop-lab contribution.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C3343C-1DE1-40EE-BCFC-196E4790AC71}"/>
              </a:ext>
            </a:extLst>
          </p:cNvPr>
          <p:cNvSpPr>
            <a:spLocks noGrp="1"/>
          </p:cNvSpPr>
          <p:nvPr/>
        </p:nvSpPr>
        <p:spPr>
          <a:xfrm>
            <a:off x="6115050" y="2819400"/>
            <a:ext cx="5143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9FE138-606C-4636-9519-2FC0F58149A3}"/>
              </a:ext>
            </a:extLst>
          </p:cNvPr>
          <p:cNvSpPr>
            <a:spLocks noGrp="1"/>
          </p:cNvSpPr>
          <p:nvPr/>
        </p:nvSpPr>
        <p:spPr>
          <a:xfrm>
            <a:off x="6286500" y="3009900"/>
            <a:ext cx="781050" cy="609600"/>
          </a:xfrm>
          <a:prstGeom prst="rect">
            <a:avLst/>
          </a:prstGeom>
          <a:solidFill>
            <a:srgbClr val="F8FAFB"/>
          </a:solidFill>
          <a:ln w="9525">
            <a:solidFill>
              <a:srgbClr val="D9E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3196590"/>
            <a:ext cx="590550" cy="23622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4CE6E43-95AB-4B65-8CD0-1DD3AF5A59C1}"/>
              </a:ext>
            </a:extLst>
          </p:cNvPr>
          <p:cNvSpPr>
            <a:spLocks noGrp="1"/>
          </p:cNvSpPr>
          <p:nvPr/>
        </p:nvSpPr>
        <p:spPr>
          <a:xfrm>
            <a:off x="7239000" y="30099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Dask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17AAA9-EA7E-46B3-A0EA-125D1C91B00F}"/>
              </a:ext>
            </a:extLst>
          </p:cNvPr>
          <p:cNvSpPr>
            <a:spLocks noGrp="1"/>
          </p:cNvSpPr>
          <p:nvPr/>
        </p:nvSpPr>
        <p:spPr>
          <a:xfrm>
            <a:off x="7239000" y="33718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Python-native scaling for arrays, dataframes, and NumPy/Pandas-style workloads.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9E9EB9-337C-406F-BF4D-8CB784EF86B9}"/>
              </a:ext>
            </a:extLst>
          </p:cNvPr>
          <p:cNvSpPr>
            <a:spLocks noGrp="1"/>
          </p:cNvSpPr>
          <p:nvPr/>
        </p:nvSpPr>
        <p:spPr>
          <a:xfrm>
            <a:off x="7239000" y="38100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Strong for data science parallelism, but not as complete as one runtime for Train, Tune, Serve, and actors.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5FFF9-1E0B-429A-991D-74C2AEB406B6}"/>
              </a:ext>
            </a:extLst>
          </p:cNvPr>
          <p:cNvSpPr>
            <a:spLocks noGrp="1"/>
          </p:cNvSpPr>
          <p:nvPr/>
        </p:nvSpPr>
        <p:spPr>
          <a:xfrm>
            <a:off x="552450" y="4495800"/>
            <a:ext cx="5143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E88A3A-9117-4F41-A931-B36DC29078E1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781050" cy="609600"/>
          </a:xfrm>
          <a:prstGeom prst="rect">
            <a:avLst/>
          </a:prstGeom>
          <a:solidFill>
            <a:srgbClr val="F8FAFB"/>
          </a:solidFill>
          <a:ln w="9525">
            <a:solidFill>
              <a:srgbClr val="D9E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8456" y="4781550"/>
            <a:ext cx="431938" cy="4191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A81D400-A1D3-475A-8443-ABA56452E651}"/>
              </a:ext>
            </a:extLst>
          </p:cNvPr>
          <p:cNvSpPr>
            <a:spLocks noGrp="1"/>
          </p:cNvSpPr>
          <p:nvPr/>
        </p:nvSpPr>
        <p:spPr>
          <a:xfrm>
            <a:off x="1676400" y="46863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Kubernetes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EB3A6F-33E1-4512-94E4-9EC0606CB99F}"/>
              </a:ext>
            </a:extLst>
          </p:cNvPr>
          <p:cNvSpPr>
            <a:spLocks noGrp="1"/>
          </p:cNvSpPr>
          <p:nvPr/>
        </p:nvSpPr>
        <p:spPr>
          <a:xfrm>
            <a:off x="1676400" y="50482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Production-grade container orchestration and deployment.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9D276A-C6C5-450A-B00D-A3CBB5262922}"/>
              </a:ext>
            </a:extLst>
          </p:cNvPr>
          <p:cNvSpPr>
            <a:spLocks noGrp="1"/>
          </p:cNvSpPr>
          <p:nvPr/>
        </p:nvSpPr>
        <p:spPr>
          <a:xfrm>
            <a:off x="1676400" y="54864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Powerful infrastructure, but operationally heavier and not itself a researcher-friendly compute API.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73DDB5-6F11-4D18-A71A-4ADC944816D6}"/>
              </a:ext>
            </a:extLst>
          </p:cNvPr>
          <p:cNvSpPr>
            <a:spLocks noGrp="1"/>
          </p:cNvSpPr>
          <p:nvPr/>
        </p:nvSpPr>
        <p:spPr>
          <a:xfrm>
            <a:off x="6115050" y="4495800"/>
            <a:ext cx="5143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753FFF-1A12-4552-9F2B-D461E2A9FADE}"/>
              </a:ext>
            </a:extLst>
          </p:cNvPr>
          <p:cNvSpPr>
            <a:spLocks noGrp="1"/>
          </p:cNvSpPr>
          <p:nvPr/>
        </p:nvSpPr>
        <p:spPr>
          <a:xfrm>
            <a:off x="6286500" y="4686300"/>
            <a:ext cx="781050" cy="609600"/>
          </a:xfrm>
          <a:prstGeom prst="rect">
            <a:avLst/>
          </a:prstGeom>
          <a:solidFill>
            <a:srgbClr val="F8FAFB"/>
          </a:solidFill>
          <a:ln w="9525">
            <a:solidFill>
              <a:srgbClr val="D9E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467475" y="4781550"/>
            <a:ext cx="419100" cy="4191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B412B56-3284-4301-BA52-91C8D00C4038}"/>
              </a:ext>
            </a:extLst>
          </p:cNvPr>
          <p:cNvSpPr>
            <a:spLocks noGrp="1"/>
          </p:cNvSpPr>
          <p:nvPr/>
        </p:nvSpPr>
        <p:spPr>
          <a:xfrm>
            <a:off x="7239000" y="46863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Celery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6DC57C-108B-438E-A025-13842B3E6A0C}"/>
              </a:ext>
            </a:extLst>
          </p:cNvPr>
          <p:cNvSpPr>
            <a:spLocks noGrp="1"/>
          </p:cNvSpPr>
          <p:nvPr/>
        </p:nvSpPr>
        <p:spPr>
          <a:xfrm>
            <a:off x="7239000" y="50482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Reliable background jobs and web-task queues.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3B8965-6931-40BD-8641-0CD14846519C}"/>
              </a:ext>
            </a:extLst>
          </p:cNvPr>
          <p:cNvSpPr>
            <a:spLocks noGrp="1"/>
          </p:cNvSpPr>
          <p:nvPr/>
        </p:nvSpPr>
        <p:spPr>
          <a:xfrm>
            <a:off x="7239000" y="54864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Great for queues, but not designed as an ML, simulation, and distributed-data runtime.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6A679D-6B3C-4283-9B8F-74329FF9E293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CECE65-DFBA-4656-8142-583E66977659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08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0FCC9C-E41A-447E-B678-A2885FA42A40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81BCB6-692B-40F5-B54C-1CE1F679569E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same Ray layer connects data, training, tuning, and serving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2418A5-0BFD-4D46-964D-707EB7CE67B5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57268" y="1943100"/>
            <a:ext cx="7277464" cy="4095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1ADDB2-A0F2-4569-93D9-A32342112CCA}"/>
              </a:ext>
            </a:extLst>
          </p:cNvPr>
          <p:cNvSpPr>
            <a:spLocks noGrp="1"/>
          </p:cNvSpPr>
          <p:nvPr/>
        </p:nvSpPr>
        <p:spPr>
          <a:xfrm>
            <a:off x="876300" y="60960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Pattern: Ray adds a distributed execution layer; familiar ML tools remain familiar.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D84691-FEE0-4596-B58A-32D163533F03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4AC898-86EE-4CBB-8D23-77A88B0F9D4C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5644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431CD8D-6A2A-45EC-9A13-902FEF9F57A1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3B8F75-69E6-462F-8E56-F1D84AA75BD9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Host mode turns one machine into the cluster coordinator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F9ADCB-4A6A-493F-BD83-8D65E150A5B3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EF3790-4869-4DFB-B251-ACD10E50E819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4476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host chooses network exposure, ports, resource caps, and can see active nodes. In practice, this becomes the control room for the lab cluster.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2BF4BD-8438-45AE-BFE8-D87965BA7273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COORDINATOR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85D1F9-0D45-43D8-A696-A361EC20ECC7}"/>
              </a:ext>
            </a:extLst>
          </p:cNvPr>
          <p:cNvSpPr>
            <a:spLocks noGrp="1"/>
          </p:cNvSpPr>
          <p:nvPr/>
        </p:nvSpPr>
        <p:spPr>
          <a:xfrm>
            <a:off x="552450" y="361950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2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 nodes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429603-E7EC-4E91-A648-CC872B8E7B03}"/>
              </a:ext>
            </a:extLst>
          </p:cNvPr>
          <p:cNvSpPr>
            <a:spLocks noGrp="1"/>
          </p:cNvSpPr>
          <p:nvPr/>
        </p:nvSpPr>
        <p:spPr>
          <a:xfrm>
            <a:off x="552450" y="4248150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Windows head plus two macOS contributors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893F69-54BE-4D70-AA3F-1999DB82CA61}"/>
              </a:ext>
            </a:extLst>
          </p:cNvPr>
          <p:cNvSpPr>
            <a:spLocks noGrp="1"/>
          </p:cNvSpPr>
          <p:nvPr/>
        </p:nvSpPr>
        <p:spPr>
          <a:xfrm>
            <a:off x="3219450" y="32956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JOB SLOTS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899A36-E143-4DE7-A605-3672347FE093}"/>
              </a:ext>
            </a:extLst>
          </p:cNvPr>
          <p:cNvSpPr>
            <a:spLocks noGrp="1"/>
          </p:cNvSpPr>
          <p:nvPr/>
        </p:nvSpPr>
        <p:spPr>
          <a:xfrm>
            <a:off x="3219450" y="361950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225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0EFDF4-564C-4247-8840-7B45EDB1C90B}"/>
              </a:ext>
            </a:extLst>
          </p:cNvPr>
          <p:cNvSpPr>
            <a:spLocks noGrp="1"/>
          </p:cNvSpPr>
          <p:nvPr/>
        </p:nvSpPr>
        <p:spPr>
          <a:xfrm>
            <a:off x="3219450" y="4248150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Configured as RayLab max concurrent jobs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rcRect t="3622" b="3622"/>
          <a:stretch>
            <a:fillRect/>
          </a:stretch>
        </p:blipFill>
        <p:spPr>
          <a:xfrm>
            <a:off x="5334000" y="1790700"/>
            <a:ext cx="6096000" cy="3848100"/>
          </a:xfrm>
          <a:prstGeom prst="roundRect">
            <a:avLst>
              <a:gd name="adj" fmla="val 2970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B5F500F-EEC0-4125-B2BB-7A9D799CE1F9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7C40FB-3B59-4BE5-A88B-078D1CC40340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6749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5C5FECF-A201-4B3D-A5A6-937B1AC9D3FB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A278F-8DC9-4256-B377-5A3ED0D50C7E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Join mode lets a colleague contribute safely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80598C-54E2-4C5F-8DDA-8F0E5BFB4B01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 t="4215" b="4215"/>
          <a:stretch>
            <a:fillRect/>
          </a:stretch>
        </p:blipFill>
        <p:spPr>
          <a:xfrm>
            <a:off x="552450" y="1790700"/>
            <a:ext cx="657225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777C59-6882-4AA7-927B-E3351D67B7BF}"/>
              </a:ext>
            </a:extLst>
          </p:cNvPr>
          <p:cNvSpPr>
            <a:spLocks noGrp="1"/>
          </p:cNvSpPr>
          <p:nvPr/>
        </p:nvSpPr>
        <p:spPr>
          <a:xfrm>
            <a:off x="7362825" y="1979694"/>
            <a:ext cx="4662598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worker machine can join the coordinator, run setup, verify networking, and cap its contribution. The user remains in control of when and how much local compute is shared.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846179-6D4D-4B03-892E-EE013CFDA925}"/>
              </a:ext>
            </a:extLst>
          </p:cNvPr>
          <p:cNvSpPr>
            <a:spLocks noGrp="1"/>
          </p:cNvSpPr>
          <p:nvPr/>
        </p:nvSpPr>
        <p:spPr>
          <a:xfrm>
            <a:off x="7362825" y="4249656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CPU offered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455BB1-8F80-42F6-85D1-B0EF6824AA7C}"/>
              </a:ext>
            </a:extLst>
          </p:cNvPr>
          <p:cNvSpPr>
            <a:spLocks noGrp="1"/>
          </p:cNvSpPr>
          <p:nvPr/>
        </p:nvSpPr>
        <p:spPr>
          <a:xfrm>
            <a:off x="9153525" y="4278231"/>
            <a:ext cx="2190750" cy="171450"/>
          </a:xfrm>
          <a:prstGeom prst="rect">
            <a:avLst/>
          </a:prstGeom>
          <a:solidFill>
            <a:srgbClr val="E7EEF1"/>
          </a:solidFill>
          <a:ln w="0">
            <a:solidFill>
              <a:srgbClr val="E7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1BC2C8-20F8-40E1-A96F-B92EE3C2FF2D}"/>
              </a:ext>
            </a:extLst>
          </p:cNvPr>
          <p:cNvSpPr>
            <a:spLocks noGrp="1"/>
          </p:cNvSpPr>
          <p:nvPr/>
        </p:nvSpPr>
        <p:spPr>
          <a:xfrm>
            <a:off x="9153525" y="4278231"/>
            <a:ext cx="1825625" cy="1714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6B7850-D4C9-4853-8489-6278E79F4852}"/>
              </a:ext>
            </a:extLst>
          </p:cNvPr>
          <p:cNvSpPr>
            <a:spLocks noGrp="1"/>
          </p:cNvSpPr>
          <p:nvPr/>
        </p:nvSpPr>
        <p:spPr>
          <a:xfrm>
            <a:off x="11439525" y="4249656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10.00x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FB6A5B-AE70-40F5-BF1F-FD798E2FA646}"/>
              </a:ext>
            </a:extLst>
          </p:cNvPr>
          <p:cNvSpPr>
            <a:spLocks noGrp="1"/>
          </p:cNvSpPr>
          <p:nvPr/>
        </p:nvSpPr>
        <p:spPr>
          <a:xfrm>
            <a:off x="7362825" y="4725906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RAM cap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840430-31D6-4AB5-91C2-EB20324D1B49}"/>
              </a:ext>
            </a:extLst>
          </p:cNvPr>
          <p:cNvSpPr>
            <a:spLocks noGrp="1"/>
          </p:cNvSpPr>
          <p:nvPr/>
        </p:nvSpPr>
        <p:spPr>
          <a:xfrm>
            <a:off x="9153525" y="4754481"/>
            <a:ext cx="2190750" cy="171450"/>
          </a:xfrm>
          <a:prstGeom prst="rect">
            <a:avLst/>
          </a:prstGeom>
          <a:solidFill>
            <a:srgbClr val="E7EEF1"/>
          </a:solidFill>
          <a:ln w="0">
            <a:solidFill>
              <a:srgbClr val="E7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979F2C-F8DB-4C8A-AFA6-E7E025F1C5FB}"/>
              </a:ext>
            </a:extLst>
          </p:cNvPr>
          <p:cNvSpPr>
            <a:spLocks noGrp="1"/>
          </p:cNvSpPr>
          <p:nvPr/>
        </p:nvSpPr>
        <p:spPr>
          <a:xfrm>
            <a:off x="9153525" y="4754481"/>
            <a:ext cx="2190750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6B6184-6F2D-4259-B860-39F78926AC60}"/>
              </a:ext>
            </a:extLst>
          </p:cNvPr>
          <p:cNvSpPr>
            <a:spLocks noGrp="1"/>
          </p:cNvSpPr>
          <p:nvPr/>
        </p:nvSpPr>
        <p:spPr>
          <a:xfrm>
            <a:off x="11439525" y="4725906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32.00x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7DE3F3-A20A-4651-98B3-191C136E872B}"/>
              </a:ext>
            </a:extLst>
          </p:cNvPr>
          <p:cNvSpPr>
            <a:spLocks noGrp="1"/>
          </p:cNvSpPr>
          <p:nvPr/>
        </p:nvSpPr>
        <p:spPr>
          <a:xfrm>
            <a:off x="7362825" y="5202156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Setup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7EE543-66EF-41AB-BDF3-A2E2429CA5BA}"/>
              </a:ext>
            </a:extLst>
          </p:cNvPr>
          <p:cNvSpPr>
            <a:spLocks noGrp="1"/>
          </p:cNvSpPr>
          <p:nvPr/>
        </p:nvSpPr>
        <p:spPr>
          <a:xfrm>
            <a:off x="9153525" y="5230731"/>
            <a:ext cx="2190750" cy="171450"/>
          </a:xfrm>
          <a:prstGeom prst="rect">
            <a:avLst/>
          </a:prstGeom>
          <a:solidFill>
            <a:srgbClr val="E7EEF1"/>
          </a:solidFill>
          <a:ln w="0">
            <a:solidFill>
              <a:srgbClr val="E7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A4E91D-B918-4926-9A43-D02FB1D5A843}"/>
              </a:ext>
            </a:extLst>
          </p:cNvPr>
          <p:cNvSpPr>
            <a:spLocks noGrp="1"/>
          </p:cNvSpPr>
          <p:nvPr/>
        </p:nvSpPr>
        <p:spPr>
          <a:xfrm>
            <a:off x="9153525" y="5230731"/>
            <a:ext cx="2190750" cy="171450"/>
          </a:xfrm>
          <a:prstGeom prst="rect">
            <a:avLst/>
          </a:prstGeom>
          <a:solidFill>
            <a:srgbClr val="2F9E67"/>
          </a:solidFill>
          <a:ln w="0">
            <a:solidFill>
              <a:srgbClr val="2F9E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770699-3DF8-4D3E-8FEC-FE6024828063}"/>
              </a:ext>
            </a:extLst>
          </p:cNvPr>
          <p:cNvSpPr>
            <a:spLocks noGrp="1"/>
          </p:cNvSpPr>
          <p:nvPr/>
        </p:nvSpPr>
        <p:spPr>
          <a:xfrm>
            <a:off x="11439525" y="5202156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1.00x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6D6766-C7EB-4098-AA7F-4B725EA32E91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C2922C-5DC9-4C8F-8E78-0EAC3690AFF0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3100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2B01C5-718A-43EE-8E73-E99E91D7D6C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E47002-12C4-49E8-8C05-3175D1D308D7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cluster graph makes distributed work visible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42E03A-8204-4DE3-A9B1-7EC5F656BB23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rcRect t="9498" b="9498"/>
          <a:stretch>
            <a:fillRect/>
          </a:stretch>
        </p:blipFill>
        <p:spPr>
          <a:xfrm>
            <a:off x="552450" y="1790700"/>
            <a:ext cx="742950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FD52F21-7C39-449B-9BE0-0587965951DC}"/>
              </a:ext>
            </a:extLst>
          </p:cNvPr>
          <p:cNvSpPr>
            <a:spLocks noGrp="1"/>
          </p:cNvSpPr>
          <p:nvPr/>
        </p:nvSpPr>
        <p:spPr>
          <a:xfrm>
            <a:off x="8572500" y="1924050"/>
            <a:ext cx="30670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dirty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This matters for teaching and debugging: colleagues can see which machines are alive, what each contributes, and whether the coordinator sees the same reality as the workers.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62A394-7802-4C49-95AB-83B1E5A812F3}"/>
              </a:ext>
            </a:extLst>
          </p:cNvPr>
          <p:cNvSpPr>
            <a:spLocks noGrp="1"/>
          </p:cNvSpPr>
          <p:nvPr/>
        </p:nvSpPr>
        <p:spPr>
          <a:xfrm>
            <a:off x="8572500" y="4312253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dirty="0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Live nodes only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F512CD-DEC9-4A25-B2C7-9B1732286BEA}"/>
              </a:ext>
            </a:extLst>
          </p:cNvPr>
          <p:cNvSpPr>
            <a:spLocks noGrp="1"/>
          </p:cNvSpPr>
          <p:nvPr/>
        </p:nvSpPr>
        <p:spPr>
          <a:xfrm>
            <a:off x="8573829" y="4746551"/>
            <a:ext cx="3197742" cy="11818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graph intentionally shows current connected devices rather than remembered historical machines.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512B46-2213-489D-A4C2-6CC64AFF7C8E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DB2988-00F9-4F6D-A940-6301164EEF30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7825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E26A8982-295D-4A25-A799-8914EA358D0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0574B0-173D-4F6D-B1AC-05C909F378CA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benchmarks show both promise and engineering honesty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6AAC6E-1722-4541-A079-447E36354690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5EFA07-7654-4AC1-B2F6-3CF0B57422DC}"/>
              </a:ext>
            </a:extLst>
          </p:cNvPr>
          <p:cNvSpPr>
            <a:spLocks noGrp="1"/>
          </p:cNvSpPr>
          <p:nvPr/>
        </p:nvSpPr>
        <p:spPr>
          <a:xfrm>
            <a:off x="552450" y="2000250"/>
            <a:ext cx="1019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We tested both embarrassingly parallel work and real neural-network training. The message is credible because we also show where workload shape matters.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37798-2ADF-4EC6-9070-45766607A240}"/>
              </a:ext>
            </a:extLst>
          </p:cNvPr>
          <p:cNvSpPr>
            <a:spLocks noGrp="1"/>
          </p:cNvSpPr>
          <p:nvPr/>
        </p:nvSpPr>
        <p:spPr>
          <a:xfrm>
            <a:off x="552450" y="2781299"/>
            <a:ext cx="7198685" cy="2577509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9F6B71-4498-4F14-81BF-18882A0FF2D3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7096125" cy="419100"/>
          </a:xfrm>
          <a:prstGeom prst="rect">
            <a:avLst/>
          </a:prstGeom>
          <a:solidFill>
            <a:srgbClr val="E7EEF1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AE2176-895C-47C3-AF02-648652352FB5}"/>
              </a:ext>
            </a:extLst>
          </p:cNvPr>
          <p:cNvSpPr>
            <a:spLocks noGrp="1"/>
          </p:cNvSpPr>
          <p:nvPr/>
        </p:nvSpPr>
        <p:spPr>
          <a:xfrm>
            <a:off x="647700" y="2867025"/>
            <a:ext cx="1257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Benchmark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73A51C-26A3-47FF-8893-0C080338A36E}"/>
              </a:ext>
            </a:extLst>
          </p:cNvPr>
          <p:cNvSpPr>
            <a:spLocks noGrp="1"/>
          </p:cNvSpPr>
          <p:nvPr/>
        </p:nvSpPr>
        <p:spPr>
          <a:xfrm>
            <a:off x="2076450" y="2867025"/>
            <a:ext cx="2019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What it did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E7DD8F-1D40-4166-956B-21DE131499C8}"/>
              </a:ext>
            </a:extLst>
          </p:cNvPr>
          <p:cNvSpPr>
            <a:spLocks noGrp="1"/>
          </p:cNvSpPr>
          <p:nvPr/>
        </p:nvSpPr>
        <p:spPr>
          <a:xfrm>
            <a:off x="4267200" y="2867025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Best result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47EE11-E048-4BC3-92D1-D617B074015D}"/>
              </a:ext>
            </a:extLst>
          </p:cNvPr>
          <p:cNvSpPr>
            <a:spLocks noGrp="1"/>
          </p:cNvSpPr>
          <p:nvPr/>
        </p:nvSpPr>
        <p:spPr>
          <a:xfrm>
            <a:off x="5791200" y="2867025"/>
            <a:ext cx="17811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Meaning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7FD87A-E9EE-42D0-8D3C-63A547AFDB9B}"/>
              </a:ext>
            </a:extLst>
          </p:cNvPr>
          <p:cNvSpPr>
            <a:spLocks noGrp="1"/>
          </p:cNvSpPr>
          <p:nvPr/>
        </p:nvSpPr>
        <p:spPr>
          <a:xfrm>
            <a:off x="552450" y="3200400"/>
            <a:ext cx="70961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A9BB5-383E-408A-BCE9-B41C3C8991DD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Monte Carlo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EF2542-B0AA-43CE-B173-61F05A97CB21}"/>
              </a:ext>
            </a:extLst>
          </p:cNvPr>
          <p:cNvSpPr>
            <a:spLocks noGrp="1"/>
          </p:cNvSpPr>
          <p:nvPr/>
        </p:nvSpPr>
        <p:spPr>
          <a:xfrm>
            <a:off x="2076450" y="328612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480M option-pricing paths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484B15-74E6-455A-B4D6-1EAC1076F459}"/>
              </a:ext>
            </a:extLst>
          </p:cNvPr>
          <p:cNvSpPr>
            <a:spLocks noGrp="1"/>
          </p:cNvSpPr>
          <p:nvPr/>
        </p:nvSpPr>
        <p:spPr>
          <a:xfrm>
            <a:off x="4267200" y="3286125"/>
            <a:ext cx="1352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2.26x speedup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CF78C0-45BC-4382-9DC8-8AE05BF58BE8}"/>
              </a:ext>
            </a:extLst>
          </p:cNvPr>
          <p:cNvSpPr>
            <a:spLocks noGrp="1"/>
          </p:cNvSpPr>
          <p:nvPr/>
        </p:nvSpPr>
        <p:spPr>
          <a:xfrm>
            <a:off x="5791200" y="3286125"/>
            <a:ext cx="1781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Clean scaling story for independent tasks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57F9C5-8D3B-4D46-B2EA-D6F64D8F4AE3}"/>
              </a:ext>
            </a:extLst>
          </p:cNvPr>
          <p:cNvSpPr>
            <a:spLocks noGrp="1"/>
          </p:cNvSpPr>
          <p:nvPr/>
        </p:nvSpPr>
        <p:spPr>
          <a:xfrm>
            <a:off x="552450" y="3657600"/>
            <a:ext cx="7096125" cy="542924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4061B3-522F-445F-B6BB-AE9CA712D17E}"/>
              </a:ext>
            </a:extLst>
          </p:cNvPr>
          <p:cNvSpPr>
            <a:spLocks noGrp="1"/>
          </p:cNvSpPr>
          <p:nvPr/>
        </p:nvSpPr>
        <p:spPr>
          <a:xfrm>
            <a:off x="647700" y="3743325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MNIST CNN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382E2-28E0-4AAD-8524-31EDDED3D68E}"/>
              </a:ext>
            </a:extLst>
          </p:cNvPr>
          <p:cNvSpPr>
            <a:spLocks noGrp="1"/>
          </p:cNvSpPr>
          <p:nvPr/>
        </p:nvSpPr>
        <p:spPr>
          <a:xfrm>
            <a:off x="2076450" y="374332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Real simple CNN on MNIST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BC17A5-06F8-4809-A7FC-57DE710F01FB}"/>
              </a:ext>
            </a:extLst>
          </p:cNvPr>
          <p:cNvSpPr>
            <a:spLocks noGrp="1"/>
          </p:cNvSpPr>
          <p:nvPr/>
        </p:nvSpPr>
        <p:spPr>
          <a:xfrm>
            <a:off x="4267200" y="3743325"/>
            <a:ext cx="1352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1.34x, 96.54%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CBEEB9-8FC5-4F9F-9815-97436B1A1DF5}"/>
              </a:ext>
            </a:extLst>
          </p:cNvPr>
          <p:cNvSpPr>
            <a:spLocks noGrp="1"/>
          </p:cNvSpPr>
          <p:nvPr/>
        </p:nvSpPr>
        <p:spPr>
          <a:xfrm>
            <a:off x="5791200" y="3743324"/>
            <a:ext cx="18573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dirty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Real training across all nodes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1C479C-9677-4D2A-A2D4-912704708712}"/>
              </a:ext>
            </a:extLst>
          </p:cNvPr>
          <p:cNvSpPr>
            <a:spLocks noGrp="1"/>
          </p:cNvSpPr>
          <p:nvPr/>
        </p:nvSpPr>
        <p:spPr>
          <a:xfrm>
            <a:off x="552450" y="4114800"/>
            <a:ext cx="70961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12638F-A9D2-47B7-82EC-481D15397242}"/>
              </a:ext>
            </a:extLst>
          </p:cNvPr>
          <p:cNvSpPr>
            <a:spLocks noGrp="1"/>
          </p:cNvSpPr>
          <p:nvPr/>
        </p:nvSpPr>
        <p:spPr>
          <a:xfrm>
            <a:off x="647700" y="4200525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Prime count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3849E7-226E-4E65-A6AC-A29A42E70ABC}"/>
              </a:ext>
            </a:extLst>
          </p:cNvPr>
          <p:cNvSpPr>
            <a:spLocks noGrp="1"/>
          </p:cNvSpPr>
          <p:nvPr/>
        </p:nvSpPr>
        <p:spPr>
          <a:xfrm>
            <a:off x="2076450" y="420052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Count primes below a limit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BE4F72-D475-455E-B765-BA21054067D7}"/>
              </a:ext>
            </a:extLst>
          </p:cNvPr>
          <p:cNvSpPr>
            <a:spLocks noGrp="1"/>
          </p:cNvSpPr>
          <p:nvPr/>
        </p:nvSpPr>
        <p:spPr>
          <a:xfrm>
            <a:off x="4267200" y="4200525"/>
            <a:ext cx="1352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dirty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CPU distribution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E0C079-1539-425C-964B-6894B19418B5}"/>
              </a:ext>
            </a:extLst>
          </p:cNvPr>
          <p:cNvSpPr>
            <a:spLocks noGrp="1"/>
          </p:cNvSpPr>
          <p:nvPr/>
        </p:nvSpPr>
        <p:spPr>
          <a:xfrm>
            <a:off x="5791200" y="4200525"/>
            <a:ext cx="1781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Deterministic compute smoke test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FA58CE-3C17-493A-915B-7F7DDF60D285}"/>
              </a:ext>
            </a:extLst>
          </p:cNvPr>
          <p:cNvSpPr>
            <a:spLocks noGrp="1"/>
          </p:cNvSpPr>
          <p:nvPr/>
        </p:nvSpPr>
        <p:spPr>
          <a:xfrm>
            <a:off x="552450" y="4572000"/>
            <a:ext cx="7096125" cy="546692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0F2512-A12F-4B64-A685-05E61C979153}"/>
              </a:ext>
            </a:extLst>
          </p:cNvPr>
          <p:cNvSpPr>
            <a:spLocks noGrp="1"/>
          </p:cNvSpPr>
          <p:nvPr/>
        </p:nvSpPr>
        <p:spPr>
          <a:xfrm>
            <a:off x="647700" y="4657725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NumPy/SciPy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B56868-0D25-4727-AE8A-98B9C257BE18}"/>
              </a:ext>
            </a:extLst>
          </p:cNvPr>
          <p:cNvSpPr>
            <a:spLocks noGrp="1"/>
          </p:cNvSpPr>
          <p:nvPr/>
        </p:nvSpPr>
        <p:spPr>
          <a:xfrm>
            <a:off x="2076450" y="465772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Dense math + solve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EC1E2A-9DB4-4F10-9625-FE761AC283ED}"/>
              </a:ext>
            </a:extLst>
          </p:cNvPr>
          <p:cNvSpPr>
            <a:spLocks noGrp="1"/>
          </p:cNvSpPr>
          <p:nvPr/>
        </p:nvSpPr>
        <p:spPr>
          <a:xfrm>
            <a:off x="4267200" y="4657725"/>
            <a:ext cx="1352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Limited scaling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679B04-BBA0-46AF-A4BA-6D6043A17B7B}"/>
              </a:ext>
            </a:extLst>
          </p:cNvPr>
          <p:cNvSpPr>
            <a:spLocks noGrp="1"/>
          </p:cNvSpPr>
          <p:nvPr/>
        </p:nvSpPr>
        <p:spPr>
          <a:xfrm>
            <a:off x="5791200" y="4657725"/>
            <a:ext cx="1781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Small shared libraries can bottleneck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17E704-A262-4422-A44B-1347B141C180}"/>
              </a:ext>
            </a:extLst>
          </p:cNvPr>
          <p:cNvSpPr>
            <a:spLocks noGrp="1"/>
          </p:cNvSpPr>
          <p:nvPr/>
        </p:nvSpPr>
        <p:spPr>
          <a:xfrm>
            <a:off x="7981950" y="2914650"/>
            <a:ext cx="4043473" cy="2000250"/>
          </a:xfrm>
          <a:prstGeom prst="rect">
            <a:avLst/>
          </a:prstGeom>
          <a:solidFill>
            <a:srgbClr val="F8FAFB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200D90-D021-4750-B927-BB901AEC9653}"/>
              </a:ext>
            </a:extLst>
          </p:cNvPr>
          <p:cNvSpPr>
            <a:spLocks noGrp="1"/>
          </p:cNvSpPr>
          <p:nvPr/>
        </p:nvSpPr>
        <p:spPr>
          <a:xfrm>
            <a:off x="8137007" y="3355458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Monte Carlo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E97B63-ED9F-4AD5-B0D0-A16A203EDF0B}"/>
              </a:ext>
            </a:extLst>
          </p:cNvPr>
          <p:cNvSpPr>
            <a:spLocks noGrp="1"/>
          </p:cNvSpPr>
          <p:nvPr/>
        </p:nvSpPr>
        <p:spPr>
          <a:xfrm>
            <a:off x="9429749" y="3414602"/>
            <a:ext cx="1809750" cy="171450"/>
          </a:xfrm>
          <a:prstGeom prst="rect">
            <a:avLst/>
          </a:prstGeom>
          <a:solidFill>
            <a:srgbClr val="E7EEF1"/>
          </a:solidFill>
          <a:ln w="0">
            <a:solidFill>
              <a:srgbClr val="E7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622CEB-A1ED-4940-A8FC-CFC7430824F8}"/>
              </a:ext>
            </a:extLst>
          </p:cNvPr>
          <p:cNvSpPr>
            <a:spLocks noGrp="1"/>
          </p:cNvSpPr>
          <p:nvPr/>
        </p:nvSpPr>
        <p:spPr>
          <a:xfrm>
            <a:off x="9429749" y="3414602"/>
            <a:ext cx="1704181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F81170-8A14-4FD5-947B-5815E5D97D92}"/>
              </a:ext>
            </a:extLst>
          </p:cNvPr>
          <p:cNvSpPr>
            <a:spLocks noGrp="1"/>
          </p:cNvSpPr>
          <p:nvPr/>
        </p:nvSpPr>
        <p:spPr>
          <a:xfrm>
            <a:off x="11185007" y="3371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dirty="0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2.26x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741AF72-531C-4339-959F-2220B8B76854}"/>
              </a:ext>
            </a:extLst>
          </p:cNvPr>
          <p:cNvSpPr>
            <a:spLocks noGrp="1"/>
          </p:cNvSpPr>
          <p:nvPr/>
        </p:nvSpPr>
        <p:spPr>
          <a:xfrm>
            <a:off x="8137007" y="3926958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MNIST CNN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10715E2-B167-407A-BBBD-9BD7EF9987D2}"/>
              </a:ext>
            </a:extLst>
          </p:cNvPr>
          <p:cNvSpPr>
            <a:spLocks noGrp="1"/>
          </p:cNvSpPr>
          <p:nvPr/>
        </p:nvSpPr>
        <p:spPr>
          <a:xfrm>
            <a:off x="9429749" y="3986102"/>
            <a:ext cx="1809750" cy="171450"/>
          </a:xfrm>
          <a:prstGeom prst="rect">
            <a:avLst/>
          </a:prstGeom>
          <a:solidFill>
            <a:srgbClr val="E7EEF1"/>
          </a:solidFill>
          <a:ln w="0">
            <a:solidFill>
              <a:srgbClr val="E7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F5A23D-BE54-495C-91AA-6D1640B45C2A}"/>
              </a:ext>
            </a:extLst>
          </p:cNvPr>
          <p:cNvSpPr>
            <a:spLocks noGrp="1"/>
          </p:cNvSpPr>
          <p:nvPr/>
        </p:nvSpPr>
        <p:spPr>
          <a:xfrm>
            <a:off x="9429749" y="3986102"/>
            <a:ext cx="1011891" cy="1714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7A3248-7F13-42FB-BC4C-3E29DF30C14B}"/>
              </a:ext>
            </a:extLst>
          </p:cNvPr>
          <p:cNvSpPr>
            <a:spLocks noGrp="1"/>
          </p:cNvSpPr>
          <p:nvPr/>
        </p:nvSpPr>
        <p:spPr>
          <a:xfrm>
            <a:off x="11185007" y="3940692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dirty="0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1.34x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702D52-308C-4991-9ECA-29A657432CA3}"/>
              </a:ext>
            </a:extLst>
          </p:cNvPr>
          <p:cNvSpPr>
            <a:spLocks noGrp="1"/>
          </p:cNvSpPr>
          <p:nvPr/>
        </p:nvSpPr>
        <p:spPr>
          <a:xfrm>
            <a:off x="8477250" y="4610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Speedup over one node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DC73F9-3A83-4D8C-8193-47F7CB5AAD0B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2C37BC0-093F-4510-8C17-5B96E18D70F6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53594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C4B533B-C926-4543-993F-7971B756024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FD8646-5757-417D-9621-8E31C08F880E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MNIST CNN benchmark has separately editable charts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282410-1890-4110-B569-CE78A9C3E048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6CBDD4-F5A4-474D-A508-7ACC691133FA}"/>
              </a:ext>
            </a:extLst>
          </p:cNvPr>
          <p:cNvSpPr>
            <a:spLocks noGrp="1"/>
          </p:cNvSpPr>
          <p:nvPr/>
        </p:nvSpPr>
        <p:spPr>
          <a:xfrm>
            <a:off x="552450" y="1943100"/>
            <a:ext cx="1009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These charts are rebuilt from the benchmark JSON instead of pasted as one screenshot, so each graph can be selected, resized, and edited independently in PowerPoint.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A60679-C18A-4D9F-B6D4-E02A44423471}"/>
              </a:ext>
            </a:extLst>
          </p:cNvPr>
          <p:cNvSpPr>
            <a:spLocks noGrp="1"/>
          </p:cNvSpPr>
          <p:nvPr/>
        </p:nvSpPr>
        <p:spPr>
          <a:xfrm>
            <a:off x="552450" y="28194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Wall time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1B83E6-E0DF-4E62-B084-61E572DBCD4B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Lower is better; adding nodes reduced total training time.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552450" y="3505200"/>
          <a:ext cx="3333750" cy="198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0E52B40-D3F9-4E2E-BDD9-7E26ECEE96B6}"/>
              </a:ext>
            </a:extLst>
          </p:cNvPr>
          <p:cNvSpPr>
            <a:spLocks noGrp="1"/>
          </p:cNvSpPr>
          <p:nvPr/>
        </p:nvSpPr>
        <p:spPr>
          <a:xfrm>
            <a:off x="4457700" y="28194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Throughput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EE83DA-FDF6-4528-A1E4-7B07832AF6E3}"/>
              </a:ext>
            </a:extLst>
          </p:cNvPr>
          <p:cNvSpPr>
            <a:spLocks noGrp="1"/>
          </p:cNvSpPr>
          <p:nvPr/>
        </p:nvSpPr>
        <p:spPr>
          <a:xfrm>
            <a:off x="4457700" y="31051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Total train images processed per second across synchronized rounds.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="4457700" y="3505200"/>
          <a:ext cx="3333750" cy="198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A7ED5CE8-D72F-4CF9-82CE-CFB544AAD9A0}"/>
              </a:ext>
            </a:extLst>
          </p:cNvPr>
          <p:cNvSpPr>
            <a:spLocks noGrp="1"/>
          </p:cNvSpPr>
          <p:nvPr/>
        </p:nvSpPr>
        <p:spPr>
          <a:xfrm>
            <a:off x="8362950" y="28194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Speedup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EB350-6ED7-4C93-8EB9-FBD7CA5D977F}"/>
              </a:ext>
            </a:extLst>
          </p:cNvPr>
          <p:cNvSpPr>
            <a:spLocks noGrp="1"/>
          </p:cNvSpPr>
          <p:nvPr/>
        </p:nvSpPr>
        <p:spPr>
          <a:xfrm>
            <a:off x="8362950" y="31051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Measured speedup relative to the one-node baseline.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="8362950" y="3505200"/>
          <a:ext cx="3333750" cy="198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5007CFC0-4E5B-4A53-871E-15B7259F873D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96B758-CD0C-4267-BEA9-5B91BE338598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0458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1E76C1D-1BC0-4F7B-9F76-CA18CC851D1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081F72-0AFB-4C48-89AA-359EB0A06BA8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Accuracy stayed strong while all nodes contributed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D2BAD2-F539-479B-A745-78D6B7CF2D8C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E95138-3BED-4A33-8065-643CF10A8979}"/>
              </a:ext>
            </a:extLst>
          </p:cNvPr>
          <p:cNvSpPr>
            <a:spLocks noGrp="1"/>
          </p:cNvSpPr>
          <p:nvPr/>
        </p:nvSpPr>
        <p:spPr>
          <a:xfrm>
            <a:off x="552450" y="1943100"/>
            <a:ext cx="1009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largest run trained the same simple CNN across three selected nodes. The contribution chart shows local training time alongside CPU share, which helps explain the different per-host timings.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E6880-34A5-4DB1-9C58-F2F6E7BD4FA4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Test accuracy by round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B6511-0E67-413F-A622-06E429B5C492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Largest three-node run; values are final evaluation after each synchronization round.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="552450" y="3543300"/>
          <a:ext cx="3333750" cy="184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B17A42C-A383-461B-B92B-266FB496C0FC}"/>
              </a:ext>
            </a:extLst>
          </p:cNvPr>
          <p:cNvSpPr>
            <a:spLocks noGrp="1"/>
          </p:cNvSpPr>
          <p:nvPr/>
        </p:nvSpPr>
        <p:spPr>
          <a:xfrm>
            <a:off x="4457700" y="28575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Test loss by round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EA1281-6645-4482-BFB0-37EFE1ED8E3E}"/>
              </a:ext>
            </a:extLst>
          </p:cNvPr>
          <p:cNvSpPr>
            <a:spLocks noGrp="1"/>
          </p:cNvSpPr>
          <p:nvPr/>
        </p:nvSpPr>
        <p:spPr>
          <a:xfrm>
            <a:off x="4457700" y="31432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Loss improved across the synchronized rounds in the three-node run.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="4457700" y="3543300"/>
          <a:ext cx="3333750" cy="184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12163FC7-52D2-4425-AAE9-B4B7DFEAC058}"/>
              </a:ext>
            </a:extLst>
          </p:cNvPr>
          <p:cNvSpPr>
            <a:spLocks noGrp="1"/>
          </p:cNvSpPr>
          <p:nvPr/>
        </p:nvSpPr>
        <p:spPr>
          <a:xfrm>
            <a:off x="8362950" y="28575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Per-host train seconds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4C57D2-9AC7-4D2B-8C8C-7DDC911B6EC9}"/>
              </a:ext>
            </a:extLst>
          </p:cNvPr>
          <p:cNvSpPr>
            <a:spLocks noGrp="1"/>
          </p:cNvSpPr>
          <p:nvPr/>
        </p:nvSpPr>
        <p:spPr>
          <a:xfrm>
            <a:off x="8362950" y="31432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Each host trained an equal image share in the largest run.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="8362950" y="3543300"/>
          <a:ext cx="3333750" cy="184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C5E3309-F0AC-442E-92BD-B39F28FA086C}"/>
              </a:ext>
            </a:extLst>
          </p:cNvPr>
          <p:cNvSpPr>
            <a:spLocks noGrp="1"/>
          </p:cNvSpPr>
          <p:nvPr/>
        </p:nvSpPr>
        <p:spPr>
          <a:xfrm>
            <a:off x="8362950" y="55626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Abimbolas: 4 CPUs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4DC86C-6E52-4F20-8EEC-8D4D3D204732}"/>
              </a:ext>
            </a:extLst>
          </p:cNvPr>
          <p:cNvSpPr>
            <a:spLocks noGrp="1"/>
          </p:cNvSpPr>
          <p:nvPr/>
        </p:nvSpPr>
        <p:spPr>
          <a:xfrm>
            <a:off x="8362950" y="57721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BaddestM4.local: 10 CPUs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5D5587-86EF-4774-9492-5373F73FEC64}"/>
              </a:ext>
            </a:extLst>
          </p:cNvPr>
          <p:cNvSpPr>
            <a:spLocks noGrp="1"/>
          </p:cNvSpPr>
          <p:nvPr/>
        </p:nvSpPr>
        <p:spPr>
          <a:xfrm>
            <a:off x="8362950" y="59817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F6TMFW21C3: 12 CPUs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5A926B-5690-47D2-9397-54A086F697FE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2258F9-2585-43A5-9E98-41DD31CE9EF9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5129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B5879F6-21E6-4827-890A-736FE618678A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can do next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D47980-0472-4C93-A381-698360CBF5DF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838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prototype is far enough to demonstrate value. The next step is to pick two or three real lab workloads and make RayLab the easiest way to run them together.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C97FC-6395-4793-B8BB-64F69470EBBE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EE47A8-3A8A-4CB4-9AD2-966F6AE2F86C}"/>
              </a:ext>
            </a:extLst>
          </p:cNvPr>
          <p:cNvSpPr>
            <a:spLocks noGrp="1"/>
          </p:cNvSpPr>
          <p:nvPr/>
        </p:nvSpPr>
        <p:spPr>
          <a:xfrm>
            <a:off x="1238250" y="30861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Package a reproducible demo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7E97A9-F2AF-4141-902D-668FABD8E6BE}"/>
              </a:ext>
            </a:extLst>
          </p:cNvPr>
          <p:cNvSpPr>
            <a:spLocks noGrp="1"/>
          </p:cNvSpPr>
          <p:nvPr/>
        </p:nvSpPr>
        <p:spPr>
          <a:xfrm>
            <a:off x="1238250" y="3429000"/>
            <a:ext cx="628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Keep Monte Carlo and MNIST as the baseline demos for new machines.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597082-C573-489F-A2CA-207641950604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94E215-AA03-4CA0-A481-9E02DFE0B9D8}"/>
              </a:ext>
            </a:extLst>
          </p:cNvPr>
          <p:cNvSpPr>
            <a:spLocks noGrp="1"/>
          </p:cNvSpPr>
          <p:nvPr/>
        </p:nvSpPr>
        <p:spPr>
          <a:xfrm>
            <a:off x="1238250" y="39624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Invite a small pilot group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A2D7D3-BECE-4C77-A013-E25084B3A3FF}"/>
              </a:ext>
            </a:extLst>
          </p:cNvPr>
          <p:cNvSpPr>
            <a:spLocks noGrp="1"/>
          </p:cNvSpPr>
          <p:nvPr/>
        </p:nvSpPr>
        <p:spPr>
          <a:xfrm>
            <a:off x="1238250" y="4305300"/>
            <a:ext cx="628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Test with colleagues who already run Python, ML, or simulation jobs.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DF0310-4C6D-4D32-96BE-2A2CD1ED86DE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9530E0-C104-47B4-A545-11E8B7DA835B}"/>
              </a:ext>
            </a:extLst>
          </p:cNvPr>
          <p:cNvSpPr>
            <a:spLocks noGrp="1"/>
          </p:cNvSpPr>
          <p:nvPr/>
        </p:nvSpPr>
        <p:spPr>
          <a:xfrm>
            <a:off x="1238250" y="48387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Add workload templates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145B84-D3E8-4E96-BC1B-6BC5DEB8C82E}"/>
              </a:ext>
            </a:extLst>
          </p:cNvPr>
          <p:cNvSpPr>
            <a:spLocks noGrp="1"/>
          </p:cNvSpPr>
          <p:nvPr/>
        </p:nvSpPr>
        <p:spPr>
          <a:xfrm>
            <a:off x="1238250" y="5181600"/>
            <a:ext cx="628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Make common jobs one-click: batch inference, Ray Tune sweeps, and data transforms.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663E87-E864-4C8E-B8D5-1C7C20DBDE6D}"/>
              </a:ext>
            </a:extLst>
          </p:cNvPr>
          <p:cNvSpPr>
            <a:spLocks noGrp="1"/>
          </p:cNvSpPr>
          <p:nvPr/>
        </p:nvSpPr>
        <p:spPr>
          <a:xfrm>
            <a:off x="8203903" y="3533775"/>
            <a:ext cx="3523807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dirty="0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Distributed computing becomes useful when it feels ordinary enough to try.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E04FB7-4767-4978-AF47-91914771517F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6A3142-98BA-4241-A53E-74C8DCCFBB25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82130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1867</Words>
  <Application>Microsoft Macintosh PowerPoint</Application>
  <DocSecurity>0</DocSecurity>
  <PresentationFormat>Widescreen</PresentationFormat>
  <Paragraphs>210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Abimbola, Jerry</cp:lastModifiedBy>
  <cp:revision>3</cp:revision>
  <dcterms:created xsi:type="dcterms:W3CDTF">2026-08-16T17:14:15Z</dcterms:created>
  <dcterms:modified xsi:type="dcterms:W3CDTF">2026-08-16T17:24:42Z</dcterms:modified>
</cp:coreProperties>
</file>