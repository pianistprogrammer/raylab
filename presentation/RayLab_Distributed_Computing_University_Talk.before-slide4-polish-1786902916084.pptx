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30ead7da5e44be" /><Relationship Type="http://schemas.openxmlformats.org/officeDocument/2006/relationships/extended-properties" Target="/docProps/app.xml" Id="R0b856366680147b3" /><Relationship Type="http://schemas.openxmlformats.org/officeDocument/2006/relationships/officeDocument" Target="/ppt/presentation.xml" Id="R208c81c826664d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b7e1dcec4c4578"/>
  </p:sldMasterIdLst>
  <p:notesMasterIdLst>
    <p:notesMasterId xmlns:r="http://schemas.openxmlformats.org/officeDocument/2006/relationships" r:id="Re90998185dc246c8"/>
  </p:notesMasterIdLst>
  <p:sldIdLst>
    <p:sldId xmlns:r="http://schemas.openxmlformats.org/officeDocument/2006/relationships" id="256" r:id="Rfe4275ae09e14fd5"/>
    <p:sldId xmlns:r="http://schemas.openxmlformats.org/officeDocument/2006/relationships" id="257" r:id="R008e1f1ef4584089"/>
    <p:sldId xmlns:r="http://schemas.openxmlformats.org/officeDocument/2006/relationships" id="258" r:id="Rd3752984bfcb4eb3"/>
    <p:sldId xmlns:r="http://schemas.openxmlformats.org/officeDocument/2006/relationships" id="259" r:id="Rc931168f0e1b4815"/>
    <p:sldId xmlns:r="http://schemas.openxmlformats.org/officeDocument/2006/relationships" id="260" r:id="R7356f84d864c4b13"/>
    <p:sldId xmlns:r="http://schemas.openxmlformats.org/officeDocument/2006/relationships" id="261" r:id="R58e7604db7214742"/>
    <p:sldId xmlns:r="http://schemas.openxmlformats.org/officeDocument/2006/relationships" id="262" r:id="R195098e81a184a3c"/>
    <p:sldId xmlns:r="http://schemas.openxmlformats.org/officeDocument/2006/relationships" id="263" r:id="R4c81ca7449144cf7"/>
    <p:sldId xmlns:r="http://schemas.openxmlformats.org/officeDocument/2006/relationships" id="264" r:id="Rba0b78ece49e4f56"/>
    <p:sldId xmlns:r="http://schemas.openxmlformats.org/officeDocument/2006/relationships" id="265" r:id="Rb55d1796f86a4f0a"/>
    <p:sldId xmlns:r="http://schemas.openxmlformats.org/officeDocument/2006/relationships" id="266" r:id="R90636770a463456d"/>
    <p:sldId xmlns:r="http://schemas.openxmlformats.org/officeDocument/2006/relationships" id="267" r:id="Re4f33bd5c97340ef"/>
    <p:sldId xmlns:r="http://schemas.openxmlformats.org/officeDocument/2006/relationships" id="268" r:id="Rded126d0c8a24a48"/>
    <p:sldId xmlns:r="http://schemas.openxmlformats.org/officeDocument/2006/relationships" id="269" r:id="R678dcbfd4be04b66"/>
    <p:sldId xmlns:r="http://schemas.openxmlformats.org/officeDocument/2006/relationships" id="270" r:id="R61935def90644765"/>
    <p:sldId xmlns:r="http://schemas.openxmlformats.org/officeDocument/2006/relationships" id="271" r:id="R6e8666a571364f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e5c4e1038845ce" /><Relationship Type="http://schemas.openxmlformats.org/officeDocument/2006/relationships/slideMaster" Target="/ppt/slideMasters/slideMaster1.xml" Id="R28b7e1dcec4c4578" /><Relationship Type="http://schemas.openxmlformats.org/officeDocument/2006/relationships/notesMaster" Target="/ppt/notesMasters/notesMaster1.xml" Id="Re90998185dc246c8" /><Relationship Type="http://schemas.openxmlformats.org/officeDocument/2006/relationships/presProps" Target="/ppt/presProps.xml" Id="Re7627dd40bdd462e" /><Relationship Type="http://schemas.openxmlformats.org/officeDocument/2006/relationships/viewProps" Target="/ppt/viewProps.xml" Id="R0b77a3528f3f493b" /><Relationship Type="http://schemas.openxmlformats.org/officeDocument/2006/relationships/tableStyles" Target="/ppt/tableStyles.xml" Id="Rf47636ee486148f6" /><Relationship Type="http://schemas.openxmlformats.org/officeDocument/2006/relationships/slide" Target="/ppt/slides/slide1.xml" Id="Rfe4275ae09e14fd5" /><Relationship Type="http://schemas.openxmlformats.org/officeDocument/2006/relationships/slide" Target="/ppt/slides/slide2.xml" Id="R008e1f1ef4584089" /><Relationship Type="http://schemas.openxmlformats.org/officeDocument/2006/relationships/slide" Target="/ppt/slides/slide3.xml" Id="Rd3752984bfcb4eb3" /><Relationship Type="http://schemas.openxmlformats.org/officeDocument/2006/relationships/slide" Target="/ppt/slides/slide4.xml" Id="Rc931168f0e1b4815" /><Relationship Type="http://schemas.openxmlformats.org/officeDocument/2006/relationships/slide" Target="/ppt/slides/slide5.xml" Id="R7356f84d864c4b13" /><Relationship Type="http://schemas.openxmlformats.org/officeDocument/2006/relationships/slide" Target="/ppt/slides/slide6.xml" Id="R58e7604db7214742" /><Relationship Type="http://schemas.openxmlformats.org/officeDocument/2006/relationships/slide" Target="/ppt/slides/slide7.xml" Id="R195098e81a184a3c" /><Relationship Type="http://schemas.openxmlformats.org/officeDocument/2006/relationships/slide" Target="/ppt/slides/slide8.xml" Id="R4c81ca7449144cf7" /><Relationship Type="http://schemas.openxmlformats.org/officeDocument/2006/relationships/slide" Target="/ppt/slides/slide9.xml" Id="Rba0b78ece49e4f56" /><Relationship Type="http://schemas.openxmlformats.org/officeDocument/2006/relationships/slide" Target="/ppt/slides/slide10.xml" Id="Rb55d1796f86a4f0a" /><Relationship Type="http://schemas.openxmlformats.org/officeDocument/2006/relationships/slide" Target="/ppt/slides/slide11.xml" Id="R90636770a463456d" /><Relationship Type="http://schemas.openxmlformats.org/officeDocument/2006/relationships/slide" Target="/ppt/slides/slide12.xml" Id="Re4f33bd5c97340ef" /><Relationship Type="http://schemas.openxmlformats.org/officeDocument/2006/relationships/slide" Target="/ppt/slides/slide13.xml" Id="Rded126d0c8a24a48" /><Relationship Type="http://schemas.openxmlformats.org/officeDocument/2006/relationships/slide" Target="/ppt/slides/slide14.xml" Id="R678dcbfd4be04b66" /><Relationship Type="http://schemas.openxmlformats.org/officeDocument/2006/relationships/slide" Target="/ppt/slides/slide15.xml" Id="R61935def90644765" /><Relationship Type="http://schemas.openxmlformats.org/officeDocument/2006/relationships/slide" Target="/ppt/slides/slide16.xml" Id="R6e8666a571364f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aaf95aff2b4a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905bb34da74a6b" /><Relationship Type="http://schemas.openxmlformats.org/officeDocument/2006/relationships/notesMaster" Target="/ppt/notesMasters/notesMaster1.xml" Id="R42160342dff844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5c58c5d0c4495c" /><Relationship Type="http://schemas.openxmlformats.org/officeDocument/2006/relationships/notesMaster" Target="/ppt/notesMasters/notesMaster1.xml" Id="Rebfd89c7e61b43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1855c090954f60" /><Relationship Type="http://schemas.openxmlformats.org/officeDocument/2006/relationships/notesMaster" Target="/ppt/notesMasters/notesMaster1.xml" Id="R3489f65379784c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2553dd905b473a" /><Relationship Type="http://schemas.openxmlformats.org/officeDocument/2006/relationships/notesMaster" Target="/ppt/notesMasters/notesMaster1.xml" Id="R00c9d9cf508147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bffc1352c14d5f" /><Relationship Type="http://schemas.openxmlformats.org/officeDocument/2006/relationships/notesMaster" Target="/ppt/notesMasters/notesMaster1.xml" Id="R65f95d878f5642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32c24fcae34de5" /><Relationship Type="http://schemas.openxmlformats.org/officeDocument/2006/relationships/notesMaster" Target="/ppt/notesMasters/notesMaster1.xml" Id="R153ee2486d8d49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def0cb199c4b92" /><Relationship Type="http://schemas.openxmlformats.org/officeDocument/2006/relationships/notesMaster" Target="/ppt/notesMasters/notesMaster1.xml" Id="Rea0e3e7435c74a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c20a0b0aac4f61" /><Relationship Type="http://schemas.openxmlformats.org/officeDocument/2006/relationships/notesMaster" Target="/ppt/notesMasters/notesMaster1.xml" Id="Re78738f9566842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d2206337c44020" /><Relationship Type="http://schemas.openxmlformats.org/officeDocument/2006/relationships/notesMaster" Target="/ppt/notesMasters/notesMaster1.xml" Id="R3602da5951a242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34e0ea665c4cd3" /><Relationship Type="http://schemas.openxmlformats.org/officeDocument/2006/relationships/notesMaster" Target="/ppt/notesMasters/notesMaster1.xml" Id="R021f79e46f9848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0b0b8cb55b4178" /><Relationship Type="http://schemas.openxmlformats.org/officeDocument/2006/relationships/notesMaster" Target="/ppt/notesMasters/notesMaster1.xml" Id="R48c70cea12264d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a50270afa64204" /><Relationship Type="http://schemas.openxmlformats.org/officeDocument/2006/relationships/notesMaster" Target="/ppt/notesMasters/notesMaster1.xml" Id="R47fcfe47db4041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2c56f5a2b449cc" /><Relationship Type="http://schemas.openxmlformats.org/officeDocument/2006/relationships/notesMaster" Target="/ppt/notesMasters/notesMaster1.xml" Id="R33899e1f429f48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fc869d04164137" /><Relationship Type="http://schemas.openxmlformats.org/officeDocument/2006/relationships/notesMaster" Target="/ppt/notesMasters/notesMaster1.xml" Id="R60ab859b0ef34a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a04f6e270e44c0" /><Relationship Type="http://schemas.openxmlformats.org/officeDocument/2006/relationships/notesMaster" Target="/ppt/notesMasters/notesMaster1.xml" Id="Re07b80b0792347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f79501001b43dc" /><Relationship Type="http://schemas.openxmlformats.org/officeDocument/2006/relationships/notesMaster" Target="/ppt/notesMasters/notesMaster1.xml" Id="R7830affc6dd044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Opening framing based on the local benchmark and presentation materials.</a:t>
            </a:r>
          </a:p>
          <a:p xmlns:a="http://schemas.openxmlformats.org/drawingml/2006/main">
            <a:r>
              <a:t>Ray documentation for distributed compute concepts: https://docs.ray.io/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Agenda derived from the user's requested topics for a university colleague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Benefits framed from local benchmark goals and university-lab compute sharing needs.</a:t>
            </a:r>
          </a:p>
          <a:p xmlns:a="http://schemas.openxmlformats.org/drawingml/2006/main">
            <a:r>
              <a:t>Ray documentation describes scaling Python and AI workloads across clusters: https://docs.ray.io/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Requirements synthesized from the local prototype goals: coordination, runtime abstraction, and controlled contribution.</a:t>
            </a:r>
          </a:p>
          <a:p xmlns:a="http://schemas.openxmlformats.org/drawingml/2006/main">
            <a:r>
              <a:t>Ray Core tasks and actors are the scheduling primitives described in Ray documentation: https://docs.ray.io/en/latest/ray-core/walkthrough.html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Ray documentation describes Ray Core tasks/actors and Ray libraries for Train, Tune, Data, and Serve: https://docs.ray.io/</a:t>
            </a:r>
          </a:p>
          <a:p xmlns:a="http://schemas.openxmlformats.org/drawingml/2006/main">
            <a:r>
              <a:t>Apache Spark project documentation describes Spark as a unified engine for large-scale data analytics: https://spark.apache.org/</a:t>
            </a:r>
          </a:p>
          <a:p xmlns:a="http://schemas.openxmlformats.org/drawingml/2006/main">
            <a:r>
              <a:t>Dask documentation describes Dask as parallel computing in Python that scales arrays, dataframes, and custom workloads: https://docs.dask.org/</a:t>
            </a:r>
          </a:p>
          <a:p xmlns:a="http://schemas.openxmlformats.org/drawingml/2006/main">
            <a:r>
              <a:t>Kubernetes documentation describes Kubernetes as a system for automating deployment, scaling, and management of containerized applications: https://kubernetes.io/docs/concepts/overview/</a:t>
            </a:r>
          </a:p>
          <a:p xmlns:a="http://schemas.openxmlformats.org/drawingml/2006/main">
            <a:r>
              <a:t>Celery documentation describes Celery as a distributed task queue: https://docs.celeryq.dev/</a:t>
            </a:r>
          </a:p>
          <a:p xmlns:a="http://schemas.openxmlformats.org/drawingml/2006/main">
            <a:r>
              <a:t>Logo assets: Spark from https://spark.apache.org/images/spark-logo-trademark.png; Dask from https://docs.dask.org/en/stable/_static/images/dask-horizontal-white.svg; Kubernetes from https://raw.githubusercontent.com/kubernetes/kubernetes/master/logo/logo.png; Celery from https://docs.celeryq.dev/en/stable/_static/celery_512.png.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image asset: /Users/I558118/Downloads/ChatGPT Image Aug 16, 2026, 09_31_55 AM.png.</a:t>
            </a:r>
          </a:p>
          <a:p xmlns:a="http://schemas.openxmlformats.org/drawingml/2006/main">
            <a:r>
              <a:t>Visible slide uses the image as an illustrative framework ecosystem map; it is not treated as an instruction source.</a:t>
            </a:r>
          </a:p>
          <a:p xmlns:a="http://schemas.openxmlformats.org/drawingml/2006/main">
            <a:r>
              <a:t>Ray ecosystem concepts are consistent with Ray Data, Ray Train, Ray Tune, and Ray Serve documentation: https://docs.ray.io/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Ray CLI command structure source: Ray documentation for ray start and cluster startup: https://docs.ray.io/en/latest/cluster/cli.html</a:t>
            </a:r>
          </a:p>
          <a:p xmlns:a="http://schemas.openxmlformats.org/drawingml/2006/main">
            <a:r>
              <a:t>Port choices mirror the local RayLab fixed-port configuration in electron/src/ray_control.js and docs/rollout.md.</a:t>
            </a:r>
          </a:p>
          <a:p xmlns:a="http://schemas.openxmlformats.org/drawingml/2006/main">
            <a:r>
              <a:t>The slide intentionally shows normal Ray CLI usage without RayLab-specific commands.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the local RayLab React frontend with a mocked Electron bridge for presentation data: presentation/assets/raylab-host-mode.png</a:t>
            </a:r>
          </a:p>
          <a:p xmlns:a="http://schemas.openxmlformats.org/drawingml/2006/main">
            <a:r>
              <a:t>Cluster node data mirrors benchmark/reports/mnist-cnn-ray-results.json.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the local RayLab React frontend with a mocked Electron bridge for presentation data: presentation/assets/raylab-join-mode.png</a:t>
            </a:r>
          </a:p>
          <a:p xmlns:a="http://schemas.openxmlformats.org/drawingml/2006/main">
            <a:r>
              <a:t>Resource cap behavior is implemented in frontend/src/store.ts and frontend/src/App.tsx.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the local RayLab React frontend with mocked live cluster data: presentation/assets/raylab-cluster-graph.png</a:t>
            </a:r>
          </a:p>
          <a:p xmlns:a="http://schemas.openxmlformats.org/drawingml/2006/main">
            <a:r>
              <a:t>Current graph behavior is implemented in frontend/src/App.tsx ClusterGraph.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Monte Carlo results source: benchmark/reports/monte-carlo-results.json and benchmark/README.md.</a:t>
            </a:r>
          </a:p>
          <a:p xmlns:a="http://schemas.openxmlformats.org/drawingml/2006/main">
            <a:r>
              <a:t>MNIST CNN results source: benchmark/reports/mnist-cnn-ray-results.json and benchmark/reports/raylab-mnist-cnn-report.html.</a:t>
            </a:r>
          </a:p>
          <a:p xmlns:a="http://schemas.openxmlformats.org/drawingml/2006/main">
            <a:r>
              <a:t>Prime and NumPy/SciPy benchmark scripts are in benchmark/ray_compute_test.py and benchmark/numpy_scipy_benchmark.py.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MNIST benchmark source data: benchmark/reports/mnist-cnn-ray-results.json.</a:t>
            </a:r>
          </a:p>
          <a:p xmlns:a="http://schemas.openxmlformats.org/drawingml/2006/main">
            <a:r>
              <a:t>Charts are native PowerPoint chart objects generated from the JSON results rather than a single flattened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MNIST benchmark source data: benchmark/reports/mnist-cnn-ray-results.json.</a:t>
            </a:r>
          </a:p>
          <a:p xmlns:a="http://schemas.openxmlformats.org/drawingml/2006/main">
            <a:r>
              <a:t>Node CPU counts and per-host contribution are from nodes_selected and the largest run's by_host/history fields.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RayLab default port map source: electron/src/storage.js and frontend/src/store.ts.</a:t>
            </a:r>
          </a:p>
          <a:p xmlns:a="http://schemas.openxmlformats.org/drawingml/2006/main">
            <a:r>
              <a:t>RayLab rollout port policy source: docs/rollout.md, especially the 'No public exposure' and port map sections.</a:t>
            </a:r>
          </a:p>
          <a:p xmlns:a="http://schemas.openxmlformats.org/drawingml/2006/main">
            <a:r>
              <a:t>Ray startup arguments for fixed node manager, object manager, and worker port ranges source: electron/src/ray_control.js.</a:t>
            </a:r>
          </a:p>
          <a:p xmlns:a="http://schemas.openxmlformats.org/drawingml/2006/main">
            <a:r>
              <a:t>Ray security guidance recommends controlled networks for Ray clusters: https://docs.ray.io/en/latest/ray-security/index.html.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Dedicated worker-account design source: docs/rollout.md and local setup behavior implemented in electron/src/setup_runner.js.</a:t>
            </a:r>
          </a:p>
          <a:p xmlns:a="http://schemas.openxmlformats.org/drawingml/2006/main">
            <a:r>
              <a:t>Windows firewall rule scoping source: electron/src/setup_runner.js, which creates RayLab rules for coordinator/local-subnet access rather than unrestricted public access.</a:t>
            </a:r>
          </a:p>
          <a:p xmlns:a="http://schemas.openxmlformats.org/drawingml/2006/main">
            <a:r>
              <a:t>Network preflight source: electron/src/network_preflight.js and electron/src/setup_runner.js.</a:t>
            </a:r>
          </a:p>
          <a:p xmlns:a="http://schemas.openxmlformats.org/drawingml/2006/main">
            <a:r>
              <a:t>Ray security guidance notes that Ray should run in a controlled network environment: https://docs.ray.io/en/latest/ray-security/index.html.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Next steps synthesized from local RayLab prototype state and benchmark outcomes.</a:t>
            </a:r>
          </a:p>
          <a:p xmlns:a="http://schemas.openxmlformats.org/drawingml/2006/main">
            <a:r>
              <a:t>Ray documentation for Ray Tune, Ray Train, and Ray Data: https://docs.ray.io/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8af372a2249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26db88c43248cb" /><Relationship Type="http://schemas.openxmlformats.org/officeDocument/2006/relationships/slideLayout" Target="/ppt/slideLayouts/slideLayout1.xml" Id="Rdcd69504988e4b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d69504988e4b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ceaf1a0fe46ca" /><Relationship Type="http://schemas.openxmlformats.org/officeDocument/2006/relationships/notesSlide" Target="/ppt/notesSlides/notesSlide1.xml" Id="R30a83102bc2642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bf47d1a15447b" /><Relationship Type="http://schemas.openxmlformats.org/officeDocument/2006/relationships/notesSlide" Target="/ppt/notesSlides/notesSlide2.xml" Id="R37435fc4f4234c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15005fb164ad2" /><Relationship Type="http://schemas.openxmlformats.org/officeDocument/2006/relationships/notesSlide" Target="/ppt/notesSlides/notesSlide3.xml" Id="R3dad9bb7e19740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10c3184a544d0" /><Relationship Type="http://schemas.openxmlformats.org/officeDocument/2006/relationships/notesSlide" Target="/ppt/notesSlides/notesSlide4.xml" Id="R11e7f938072340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742db09454668" /><Relationship Type="http://schemas.openxmlformats.org/officeDocument/2006/relationships/image" Target="/ppt/media/image.png" Id="R58883f54c9a740e6" /><Relationship Type="http://schemas.openxmlformats.org/officeDocument/2006/relationships/image" Target="/ppt/media/image2.png" Id="R2880fc089d714800" /><Relationship Type="http://schemas.openxmlformats.org/officeDocument/2006/relationships/image" Target="/ppt/media/image3.png" Id="R06493acb15fd4108" /><Relationship Type="http://schemas.openxmlformats.org/officeDocument/2006/relationships/image" Target="/ppt/media/image4.png" Id="R6db85e45c78b4892" /><Relationship Type="http://schemas.openxmlformats.org/officeDocument/2006/relationships/notesSlide" Target="/ppt/notesSlides/notesSlide5.xml" Id="R6d762f30fabe4b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cc98bb4ca4a52" /><Relationship Type="http://schemas.openxmlformats.org/officeDocument/2006/relationships/image" Target="/ppt/media/image5.png" Id="Rd1d380ee8aca4566" /><Relationship Type="http://schemas.openxmlformats.org/officeDocument/2006/relationships/notesSlide" Target="/ppt/notesSlides/notesSlide6.xml" Id="Ra17ce7e843ee4d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4ec9da4db4ef3" /><Relationship Type="http://schemas.openxmlformats.org/officeDocument/2006/relationships/image" Target="/ppt/media/image6.png" Id="R0723cfde77e542ba" /><Relationship Type="http://schemas.openxmlformats.org/officeDocument/2006/relationships/image" Target="/ppt/media/image7.png" Id="R9ba25ae941fc4cd1" /><Relationship Type="http://schemas.openxmlformats.org/officeDocument/2006/relationships/notesSlide" Target="/ppt/notesSlides/notesSlide7.xml" Id="Ra22f4ca35fff41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43c6d862a4f23" /><Relationship Type="http://schemas.openxmlformats.org/officeDocument/2006/relationships/image" Target="/ppt/media/image8.png" Id="R7ed38d05b89f432a" /><Relationship Type="http://schemas.openxmlformats.org/officeDocument/2006/relationships/notesSlide" Target="/ppt/notesSlides/notesSlide8.xml" Id="R4e17748758464c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b8ac499494926" /><Relationship Type="http://schemas.openxmlformats.org/officeDocument/2006/relationships/image" Target="/ppt/media/image9.png" Id="Re57323330e0d4fec" /><Relationship Type="http://schemas.openxmlformats.org/officeDocument/2006/relationships/notesSlide" Target="/ppt/notesSlides/notesSlide9.xml" Id="Rb550210dd90e4f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676513d4a4309" /><Relationship Type="http://schemas.openxmlformats.org/officeDocument/2006/relationships/image" Target="/ppt/media/image10.png" Id="Rae1a4fa64a5f4130" /><Relationship Type="http://schemas.openxmlformats.org/officeDocument/2006/relationships/notesSlide" Target="/ppt/notesSlides/notesSlide10.xml" Id="R0ea9b495535b44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7310c9e804fe9" /><Relationship Type="http://schemas.openxmlformats.org/officeDocument/2006/relationships/notesSlide" Target="/ppt/notesSlides/notesSlide11.xml" Id="R5147008cc14b42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11908236d4c07" /><Relationship Type="http://schemas.openxmlformats.org/officeDocument/2006/relationships/chart" Target="/ppt/slides/charts/chart1.xml" Id="Rac70833889324127" /><Relationship Type="http://schemas.openxmlformats.org/officeDocument/2006/relationships/chart" Target="/ppt/slides/charts/chart2.xml" Id="Rfcf9f517a764415c" /><Relationship Type="http://schemas.openxmlformats.org/officeDocument/2006/relationships/chart" Target="/ppt/slides/charts/chart3.xml" Id="R6d2ce55aaa5a4dd2" /><Relationship Type="http://schemas.openxmlformats.org/officeDocument/2006/relationships/notesSlide" Target="/ppt/notesSlides/notesSlide12.xml" Id="R024823e717c341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1f91f85d249c2" /><Relationship Type="http://schemas.openxmlformats.org/officeDocument/2006/relationships/chart" Target="/ppt/slides/charts/chart4.xml" Id="Rd578b14b4cb04a0e" /><Relationship Type="http://schemas.openxmlformats.org/officeDocument/2006/relationships/chart" Target="/ppt/slides/charts/chart5.xml" Id="R10d5538f4add4706" /><Relationship Type="http://schemas.openxmlformats.org/officeDocument/2006/relationships/chart" Target="/ppt/slides/charts/chart6.xml" Id="Rc8fcdea19a3842ba" /><Relationship Type="http://schemas.openxmlformats.org/officeDocument/2006/relationships/notesSlide" Target="/ppt/notesSlides/notesSlide13.xml" Id="R51fec3f16edd48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61dc2ef22456d" /><Relationship Type="http://schemas.openxmlformats.org/officeDocument/2006/relationships/notesSlide" Target="/ppt/notesSlides/notesSlide14.xml" Id="Re47b492bad5c4d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dbff99f4d44a3" /><Relationship Type="http://schemas.openxmlformats.org/officeDocument/2006/relationships/notesSlide" Target="/ppt/notesSlides/notesSlide15.xml" Id="R841a73c3325d4b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1db4717f54172" /><Relationship Type="http://schemas.openxmlformats.org/officeDocument/2006/relationships/notesSlide" Target="/ppt/notesSlides/notesSlide16.xml" Id="R27f2b00f764b413b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Wall time</c:v>
          </c:tx>
          <c:spPr>
            <a:solidFill xmlns:a="http://schemas.openxmlformats.org/drawingml/2006/main">
              <a:srgbClr val="2563E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4748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F766E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0.0</c:formatCode>
              <c:ptCount val="3"/>
              <c:pt idx="0">
                <c:v>18.6</c:v>
              </c:pt>
              <c:pt idx="1">
                <c:v>15.1</c:v>
              </c:pt>
              <c:pt idx="2">
                <c:v>13.8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Throughput</c:v>
          </c:tx>
          <c:spPr>
            <a:solidFill xmlns:a="http://schemas.openxmlformats.org/drawingml/2006/main">
              <a:srgbClr val="0F766E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4748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563EB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#,##0</c:formatCode>
              <c:ptCount val="3"/>
              <c:pt idx="0">
                <c:v>6466.588583682945</c:v>
              </c:pt>
              <c:pt idx="1">
                <c:v>7967.37249420724</c:v>
              </c:pt>
              <c:pt idx="2">
                <c:v>8677.64216776311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#,##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Speedup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0.00\x</c:formatCode>
              <c:ptCount val="3"/>
              <c:pt idx="0">
                <c:v>1</c:v>
              </c:pt>
              <c:pt idx="1">
                <c:v>1.2320827884908596</c:v>
              </c:pt>
              <c:pt idx="2">
                <c:v>1.3419196312657475</c:v>
              </c:pt>
            </c:numLit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0\x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Test accuracy by round</c:v>
          </c:tx>
          <c:spPr>
            <a:ln xmlns:a="http://schemas.openxmlformats.org/drawingml/2006/main" w="28575">
              <a:solidFill>
                <a:srgbClr val="0F766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F766E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R1</c:v>
              </c:pt>
              <c:pt idx="1">
                <c:v>R2</c:v>
              </c:pt>
              <c:pt idx="2">
                <c:v>R3</c:v>
              </c:pt>
              <c:pt idx="3">
                <c:v>R4</c:v>
              </c:pt>
              <c:pt idx="4">
                <c:v>R5</c:v>
              </c:pt>
            </c:strLit>
          </c:cat>
          <c:val>
            <c:numLit>
              <c:formatCode>0.0%</c:formatCode>
              <c:ptCount val="5"/>
              <c:pt idx="0">
                <c:v>0.9354</c:v>
              </c:pt>
              <c:pt idx="1">
                <c:v>0.9536</c:v>
              </c:pt>
              <c:pt idx="2">
                <c:v>0.9588</c:v>
              </c:pt>
              <c:pt idx="3">
                <c:v>0.9678</c:v>
              </c:pt>
              <c:pt idx="4">
                <c:v>0.9654</c:v>
              </c:pt>
            </c:numLit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Test loss by round</c:v>
          </c:tx>
          <c:spPr>
            <a:ln xmlns:a="http://schemas.openxmlformats.org/drawingml/2006/main" w="28575">
              <a:solidFill>
                <a:srgbClr val="B4530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B45309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R1</c:v>
              </c:pt>
              <c:pt idx="1">
                <c:v>R2</c:v>
              </c:pt>
              <c:pt idx="2">
                <c:v>R3</c:v>
              </c:pt>
              <c:pt idx="3">
                <c:v>R4</c:v>
              </c:pt>
              <c:pt idx="4">
                <c:v>R5</c:v>
              </c:pt>
            </c:strLit>
          </c:cat>
          <c:val>
            <c:numLit>
              <c:formatCode>0.000</c:formatCode>
              <c:ptCount val="5"/>
              <c:pt idx="0">
                <c:v>0.2192081741333008</c:v>
              </c:pt>
              <c:pt idx="1">
                <c:v>0.1522359477996826</c:v>
              </c:pt>
              <c:pt idx="2">
                <c:v>0.12905887775421143</c:v>
              </c:pt>
              <c:pt idx="3">
                <c:v>0.10609913930892945</c:v>
              </c:pt>
              <c:pt idx="4">
                <c:v>0.10275714540481568</c:v>
              </c:pt>
            </c:numLit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Per-host train seconds</c:v>
          </c:tx>
          <c:spPr>
            <a:solidFill xmlns:a="http://schemas.openxmlformats.org/drawingml/2006/main">
              <a:srgbClr val="2563E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4748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F766E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Abimbolas</c:v>
              </c:pt>
              <c:pt idx="1">
                <c:v>BaddestM4.local</c:v>
              </c:pt>
              <c:pt idx="2">
                <c:v>F6TMFW21C3</c:v>
              </c:pt>
            </c:strLit>
          </c:cat>
          <c:val>
            <c:numLit>
              <c:formatCode>0.0</c:formatCode>
              <c:ptCount val="3"/>
              <c:pt idx="0">
                <c:v>4.3</c:v>
              </c:pt>
              <c:pt idx="1">
                <c:v>2.7</c:v>
              </c:pt>
              <c:pt idx="2">
                <c:v>1.5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413E8EA-DFEA-4C70-94E9-41074F1E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DISTRIBUTED COMPUTE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751577-4042-44CA-AF19-E472117C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866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Turning ordinary lab machines into a distributed compute cluster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0E3BD44-2B66-4D31-9571-48F62DB5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 practical university question: can ordinary Windows and macOS machines work together as one shared compute surface?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B6FB035-1012-41EB-B888-2AE160FE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7239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4"/>
          </a:solidFill>
          <a:ln xmlns:a="http://schemas.openxmlformats.org/drawingml/2006/main" w="0">
            <a:solidFill>
              <a:srgbClr val="1D5F7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6F23636-9628-429E-B2DE-3C92E47F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Jeremiah Abimbola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F153665-6CE0-4A9D-9F01-E3F0EEDB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A9E8BC0-D98F-4D9A-82A5-3D4F64D4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5666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79E7973E-9C23-4331-BD76-5886117A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E82C0F-3CE6-4691-B7D7-9F0EC059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will cover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27666F5-E589-49FA-A4A1-506A854F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48FAF4E-7DAC-4A88-9A78-C2893564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1087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272FA3A-B411-4E45-87EB-1A386935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DF78CEF-7849-43AE-B0BB-D53E28F3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10EB41F-A488-426B-BBDD-B63361E8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716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Why distributed work matters for a university group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2027933-719C-4391-861D-AA3D73D2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94F6D7A-F47B-4591-BEE8-961FACCF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D3E1735-7218-4748-BCB7-2F0BD917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4792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a useful shared cluster would need to do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7A5A14A-B62A-42BB-BAA7-CFC81D19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752176D-EAD8-4A00-91FB-3C64C2BE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9BEE582-80C5-499D-893D-DE2FE566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241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tools we considered before choosing a runtime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3EA61BA-514B-4A2B-9185-88B6C400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C4C29D7-A709-44C2-92C9-A909394C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135F57D-848B-49D8-A671-298A0D2E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0042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Why Ray became the runtime choice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04FA82B-6EEA-48C3-92E6-F89815E8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AFFC41-EA75-4674-AFBF-0958AF1A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5EA7809-7D8D-4903-BDCD-51100FBC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766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How Ray connects common machine-learning frameworks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E251132-0401-4269-B8E2-352519C0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21CDD73-65E6-4AEF-A5BD-094C6B36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529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2A91E9D-D387-4960-9B12-EEAD2205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5292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built on top of Ray and how it behaves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AE15F44-7E46-4DF8-8522-428DC4B9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3523871-C643-411B-A732-5A6CFDD6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29D26DB-2028-4FEB-A06E-0333932D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Benchmarks, security, and next steps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99509C8-1130-4482-BE4E-066DD47C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21D5BF3-12B1-4E9C-939D-4E5ECCF7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9064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F6D6C41-76E4-462D-A312-79598605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981FAC-AC3F-4246-9A09-90DD205C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opportunity is already sitting on our desks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5CDD2BD-0EB0-4EA1-90D0-34D213E2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079ADC8-176B-4A20-87F3-EF776669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Most labs have idle CPU, RAM, and sometimes GPU capacity spread across personal workstations. The practical question is whether that idle capacity can become a shared compute surface without asking everyone to become a cluster administrator.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5C510DA-B444-4990-A83E-0ECDBD16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238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D42D0CF-5969-4C1F-99A1-1B8039DE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More useful compute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07C7580-718B-4721-91E1-13644B3B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Batch simulations, model training, data transforms, and inference jobs can use multiple machines instead of one laptop.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AABBAA7-4504-44B4-A8E9-67954D2A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3238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4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2CEA8EC-B4AF-4631-9D45-B3B28CAD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62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Lower barrier to entry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9D2098D-2A8D-4F75-8A46-51FD7A36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Any usable answer has to hide operational details: ports, setup checks, worker accounts, containers, and logs.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AEB3F18-647C-4309-981A-46842335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3238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4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69AF4C3-03AA-451E-A1ED-F5BBD2B5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Better demos and teaching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58E9BC9-607D-4DCC-998D-D1DB4B1E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91443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Students and colleagues can see distributed systems concepts using machines they recognize.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A2B6A1B-582F-4B8B-B9C6-E2C4D285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E00333F-73B2-430C-8A6B-1854AD94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86734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6A1AB0B-D48C-4B4D-9A25-C3360A0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C8CEE5-5CF1-429B-8F63-8485AE3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A useful answer has to satisfy three constraints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7D1B4BD-B09A-4DF9-9680-9D44BE60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EBFC0CA-657C-4D29-933C-54B10CF7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762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A9D5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2DE2AA7-8691-48B6-9FAD-775EFCB9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Coordination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F9FB89F-D6B1-40E0-AB19-BBE138C9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One machine must organize jobs, logs, resources, and live state without becoming a bottleneck.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8C8EDCF-1D82-4B1E-98ED-A3F453C5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2697"/>
            <a:ext cx="2762249" cy="122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1D77416-CD3A-4499-8682-8BC9594D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1" y="2655573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DA5B758-3237-46DB-8C87-03469E5E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1" y="3027048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schedules work across machines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230FC47-D81F-41F0-A300-273FA44A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762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C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A796040-4E5A-4334-B8BC-CCB7CC93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19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Contribution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9A6968E-BFC2-4709-916E-41D50292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Each participant must control when and how much local CPU, RAM, or GPU capacity is shared.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B2E6C7E-6FD5-4E7E-9AD5-02AAADF6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Before choosing a tool, the requirement was simple: pool idle compute while keeping machines understandable and locally controlled.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56D2693-946E-4867-890A-42B913FF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29EC3A4-2CEE-4DF1-A89C-D4194652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15622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E99BC9D-CE84-457B-9ED7-B7C77D2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WHY RAY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C6A955-6832-4120-AD2E-588545BF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fits the lab better than adjacent tools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EEA91D-C614-43D0-9B33-E42A7C82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F0F538-A119-42C1-A98F-5458A0EB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34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alternatives are excellent, but they each optimize for a narrower layer. Ray gave us one Python-first runtime for tasks, actors, training, tuning, data, and serving on machines people already own.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FAB4172-C8FE-4DAA-8BCE-7DF2A611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B58A5D-B9BE-4BD4-95FF-82075C77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83f54c9a740e6"/>
          <a:stretch xmlns:a="http://schemas.openxmlformats.org/drawingml/2006/main"/>
        </p:blipFill>
        <p:spPr>
          <a:xfrm xmlns:a="http://schemas.openxmlformats.org/drawingml/2006/main">
            <a:off x="819150" y="3157639"/>
            <a:ext cx="590550" cy="314122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57ED28D-A8D8-44C0-A9B6-084ABFA6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Apache Spark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8B87938-07B9-4456-8301-01B50BAF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718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Large-scale SQL, ETL, and data processing.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3F11533-A605-47C9-9C36-972ACDAB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100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Less natural for Python-native actors, mixed ML workloads, and interactive desktop-lab contribution.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6C3343C-1DE1-40EE-BCFC-196E4790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194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99FE138-606C-4636-9519-2FC0F581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8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0fc089d714800"/>
          <a:stretch xmlns:a="http://schemas.openxmlformats.org/drawingml/2006/main"/>
        </p:blipFill>
        <p:spPr>
          <a:xfrm xmlns:a="http://schemas.openxmlformats.org/drawingml/2006/main">
            <a:off x="6381750" y="3196590"/>
            <a:ext cx="590550" cy="236220"/>
          </a:xfrm>
          <a:prstGeom xmlns:a="http://schemas.openxmlformats.org/drawingml/2006/main" prst="rect">
            <a:avLst/>
          </a:prstGeom>
        </p:spPr>
      </p:pic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4CE6E43-95AB-4B65-8CD0-1DD3AF5A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Dask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217AAA9-EA7E-46B3-A0EA-125D1C91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Python-native scaling for arrays, dataframes, and NumPy/Pandas-style workloads.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39E9EB9-337C-406F-BF4D-8CB784EF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Strong for data science parallelism, but not as complete as one runtime for Train, Tune, Serve, and actors.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BF5FFF9-1E0B-429A-991D-74C2AEB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6E88A3A-9117-4F41-A931-B36DC290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4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93acb15fd4108"/>
          <a:stretch xmlns:a="http://schemas.openxmlformats.org/drawingml/2006/main"/>
        </p:blipFill>
        <p:spPr>
          <a:xfrm xmlns:a="http://schemas.openxmlformats.org/drawingml/2006/main">
            <a:off x="898456" y="4781550"/>
            <a:ext cx="431938" cy="419100"/>
          </a:xfrm>
          <a:prstGeom xmlns:a="http://schemas.openxmlformats.org/drawingml/2006/main" prst="rect">
            <a:avLst/>
          </a:prstGeom>
        </p:spPr>
      </p:pic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A81D400-A1D3-475A-8443-ABA56452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Kubernetes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DEB3A6F-33E1-4512-94E4-9EC0606C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Production-grade container orchestration and deployment.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A9D276A-C6C5-450A-B00D-A3CBB526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Powerful infrastructure, but operationally heavier and not itself a researcher-friendly compute API.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373DDB5-6F11-4D18-A71A-4ADC9448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958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8753FFF-1A12-4552-9F2B-D461E2A9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0" name="Pictur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85e45c78b4892"/>
          <a:stretch xmlns:a="http://schemas.openxmlformats.org/drawingml/2006/main"/>
        </p:blipFill>
        <p:spPr>
          <a:xfrm xmlns:a="http://schemas.openxmlformats.org/drawingml/2006/main">
            <a:off x="6467475" y="47815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B412B56-3284-4301-BA52-91C8D00C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Celery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46DC57C-108B-438E-A025-13842B3E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Reliable background jobs and web-task queues.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43B8965-6931-40BD-8641-0CD14846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Great for queues, but not designed as an ML, simulation, and distributed-data runtime.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96A679D-6B3C-4283-9B8F-74329FF9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3CECE65-DFBA-4656-8142-583E6697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086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0FCC9C-E41A-447E-B678-A2885FA4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 ECOSYSTEM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81BCB6-692B-40F5-B54C-1CE1F679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same Ray layer connects data, training, tuning, and serving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2418A5-0BFD-4D46-964D-707EB7CE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380ee8aca4566"/>
          <a:stretch xmlns:a="http://schemas.openxmlformats.org/drawingml/2006/main"/>
        </p:blipFill>
        <p:spPr>
          <a:xfrm xmlns:a="http://schemas.openxmlformats.org/drawingml/2006/main">
            <a:off x="2457268" y="1943100"/>
            <a:ext cx="7277464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31ADDB2-A0F2-4569-93D9-A3234211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Pattern: Ray adds a distributed execution layer; familiar ML tools remain familiar.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BD84691-FEE0-4596-B58A-32D16353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04AC898-86EE-4CBB-8D23-77A88B0F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95644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20BCF38-8010-4F01-8D61-1632F66F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 CLI REFERENCE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14F01E-CC3C-4CB8-BDE9-D6D02E2D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Starting and joining a Ray cluster from the CLI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9BA82E9-24BF-4283-9950-36226C28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8111B7C-F1F1-4403-97D3-D2F13F7B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This is the plain Ray workflow: one machine starts the head node; each additional machine joins by pointing at the head IP and port.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2369317-E16C-41EC-A914-C3A5C79C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Start the head node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44E0012-06E2-4C49-B84E-F27A555D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Run once on the machine that coordinates the cluster.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0C9F802-27D8-4184-8D52-E46C1987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Join a worker node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93E390D-B3BD-44B5-B650-EEC11C1D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Run on each machine that contributes CPU/GPU resources.</a:t>
            </a:r>
          </a:p>
        </p:txBody>
      </p:sp>
      <p:pic>
        <p:nvPicPr>
          <p:cNvPr id="26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3cfde77e542ba"/>
          <a:stretch xmlns:a="http://schemas.openxmlformats.org/drawingml/2006/main"/>
        </p:blipFill>
        <p:spPr>
          <a:xfrm xmlns:a="http://schemas.openxmlformats.org/drawingml/2006/main">
            <a:off x="552450" y="3524250"/>
            <a:ext cx="5334000" cy="2438400"/>
          </a:xfrm>
          <a:prstGeom xmlns:a="http://schemas.openxmlformats.org/drawingml/2006/main" prst="rect">
            <a:avLst/>
          </a:prstGeom>
        </p:spPr>
      </p:pic>
      <p:pic>
        <p:nvPicPr>
          <p:cNvPr id="27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25ae941fc4cd1"/>
          <a:stretch xmlns:a="http://schemas.openxmlformats.org/drawingml/2006/main"/>
        </p:blipFill>
        <p:spPr>
          <a:xfrm xmlns:a="http://schemas.openxmlformats.org/drawingml/2006/main">
            <a:off x="6305550" y="3524250"/>
            <a:ext cx="5334000" cy="24384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C1D9A42-BF7A-4051-A647-BF1BFF4E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01E64EF-9C37-4D07-9072-C129B982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7484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431CD8D-6A2A-45EC-9A13-902FEF9F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3B8F75-69E6-462F-8E56-F1D84AA7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Then we built RayLab: host mode coordinates the cluster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F9ADCB-4A6A-493F-BD83-8D65E150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AEF3790-4869-4DFB-B251-ACD10E50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host chooses network exposure, ports, resource caps, and can see active nodes. In practice, this becomes the control room for the lab cluster.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22BF4BD-8438-45AE-BFE8-D87965BA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COORDINATOR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585D1F9-0D45-43D8-A696-A361EC20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 nodes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6429603-E7EC-4E91-A648-CC872B8E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Windows head plus two macOS contributors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893F69-54BE-4D70-AA3F-1999DB82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95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JOB SLOTS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E899A36-E143-4DE7-A605-3672347F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195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E0EFDF4-564C-4247-8840-7B45EDB1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48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Configured as RayLab max concurrent jobs</a:t>
            </a:r>
          </a:p>
        </p:txBody>
      </p:sp>
      <p:pic>
        <p:nvPicPr>
          <p:cNvPr id="2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38d05b89f432a"/>
          <a:srcRect xmlns:a="http://schemas.openxmlformats.org/drawingml/2006/main" l="0" t="3622" r="0" b="3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790700"/>
            <a:ext cx="6096000" cy="3848100"/>
          </a:xfrm>
          <a:prstGeom xmlns:a="http://schemas.openxmlformats.org/drawingml/2006/main" prst="roundRect">
            <a:avLst>
              <a:gd name="adj" fmla="val 2970"/>
            </a:avLst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B5F500F-EEC0-4125-B2BB-7A9D799C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B7C40FB-3B59-4BE5-A88B-078D1CC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67494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5C5FECF-A201-4B3D-A5A6-937B1AC9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EA278F-8DC9-4256-B377-5A3ED0D5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Join mode lets a colleague contribute safely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080598C-54E2-4C5F-8DDA-8F0E5BFB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323330e0d4fec"/>
          <a:srcRect xmlns:a="http://schemas.openxmlformats.org/drawingml/2006/main" l="0" t="4215" r="0" b="42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65722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777C59-6882-4AA7-927B-E3351D67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79694"/>
            <a:ext cx="4662598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 worker machine can join the coordinator, run setup, verify networking, and cap its contribution. The user remains in control of when and how much local compute is shared.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6846179-6D4D-4B03-892E-EE013CFD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49656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CPU offered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B455BB1-8F80-42F6-85D1-B0EF6824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7823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01BC2C8-20F8-40E1-A96F-B92EE3C2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78231"/>
            <a:ext cx="1825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56B7850-D4C9-4853-8489-6278E79F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24965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10.00x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0FB6A5B-AE70-40F5-BF1F-FD798E2F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725906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RAM cap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2840430-31D6-4AB5-91C2-EB20324D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5448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8979F2C-F8DB-4C8A-AFA6-E7E025F1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5448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16B6184-6F2D-4259-B860-39F78926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72590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32.00x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E7DE3F3-A20A-4651-98B3-191C136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202156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Setup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37EE543-66EF-41AB-BDF3-A2E2429C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3073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4A4E91D-B918-4926-9A43-D02FB1D5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3073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7"/>
          </a:solidFill>
          <a:ln xmlns:a="http://schemas.openxmlformats.org/drawingml/2006/main" w="0">
            <a:solidFill>
              <a:srgbClr val="2F9E6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8770699-3DF8-4D3E-8FEC-FE602482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520215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1.00x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F6D6766-C7EB-4098-AA7F-4B725EA3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DC2922C-5DC9-4C8F-8E78-0EAC3690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31008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A2B01C5-718A-43EE-8E73-E99E91D7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E47002-12C4-49E8-8C05-3175D1D3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cluster graph makes distributed work visible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142E03A-8204-4DE3-A9B1-7EC5F656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a4fa64a5f4130"/>
          <a:srcRect xmlns:a="http://schemas.openxmlformats.org/drawingml/2006/main" l="0" t="9498" r="0" b="94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74295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FD52F21-7C39-449B-9BE0-05879659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30670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This matters for teaching and debugging: colleagues can see which machines are alive, what each contributes, and whether the coordinator sees the same reality as the workers.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62A394-7802-4C49-95AB-83B1E5A8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2253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Live nodes only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0F512CD-DEC9-4A25-B2C7-9B173228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829" y="4746551"/>
            <a:ext cx="3197742" cy="118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graph intentionally shows current connected devices rather than remembered historical machines.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D512B46-2213-489D-A4C2-6CC64AFF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6DB2988-00F9-4F6D-A940-6301164E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978256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E26A8982-295D-4A25-A799-8914EA35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0574B0-173D-4F6D-B1AC-05C909F3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benchmarks show both promise and engineering honesty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6AAC6E-1722-4541-A079-447E3635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A5EFA07-7654-4AC1-B2F6-3CF0B574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We tested both embarrassingly parallel work and real neural-network training. The message is credible because we also show where workload shape matters.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A537798-2ADF-4EC6-9070-45766607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299"/>
            <a:ext cx="7198685" cy="2577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09F6B71-4498-4F14-81BF-18882A0F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709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8AE2176-895C-47C3-AF02-64865235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Benchmark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F73A51C-26A3-47FF-8893-0C080338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670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What it did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3E7DD8F-1D40-4166-956B-21DE1314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Best result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47EE11-E048-4BC3-92D1-D617B074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67025"/>
            <a:ext cx="1781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Meaning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27FD87A-E9EE-42D0-8D3C-63A547AF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7096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11A9BB5-383E-408A-BCE9-B41C3C89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Monte Carlo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BEF2542-B0AA-43CE-B173-61F05A97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861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480M option-pricing paths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6484B15-74E6-455A-B4D6-1EAC1076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861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2.26x speedup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4CF78C0-45BC-4382-9DC8-8AE05BF5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86125"/>
            <a:ext cx="1781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Clean scaling story for independent tasks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257F9C5-8D3B-4D46-B2EA-D6F64D8F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7096125" cy="5429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54061B3-522F-445F-B6BB-AE9CA712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MNIST CNN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4B382E2-28E0-4AAD-8524-31EDDED3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433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Real simple CNN on MNIST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7BC17A5-06F8-4809-A7FC-57DE710F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433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1.34x, 96.54%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BCBEEB9-8FC5-4F9F-9815-97436B1A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43324"/>
            <a:ext cx="1857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Real training across all nodes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B1C479C-9677-4D2A-A2D4-91270470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7096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D12638F-A9D2-47B7-82EC-481D1539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Prime count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B3849E7-226E-4E65-A6AC-A29A42E7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005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Count primes below a limit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BBE4F72-D475-455E-B765-BA210540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005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CPU distribution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FE0C079-1539-425C-964B-6894B194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00525"/>
            <a:ext cx="1781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Deterministic compute smoke test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6FA58CE-3C17-493A-915B-7F7DDF60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7096125" cy="546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D0F2512-A12F-4B64-A685-05E61C97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577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NumPy/SciPy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BB56868-0D25-4727-AE8A-98B9C257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577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Dense math + solve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BEC1E2A-9DB4-4F10-9625-FE761AC2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Limited scaling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A679B04-BBA0-46AF-A4BA-6D6043A1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57725"/>
            <a:ext cx="1781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Small shared libraries can bottleneck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F17E704-A262-4422-A44B-1347B141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4043473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D200D90-D021-4750-B927-BB901AEC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007" y="3355458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Monte Carlo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5E97B63-ED9F-4AD5-B0D0-A16A203E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414602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7622CEB-A1ED-4940-A8FC-CFC74308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414602"/>
            <a:ext cx="170418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5F81170-8A14-4FD5-947B-5815E5D9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007" y="33718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2.26x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0741AF72-531C-4339-959F-2220B8B7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007" y="3926958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MNIST CNN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810715E2-B167-407A-BBBD-9BD7EF99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986102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DF5A23D-BE54-495C-91AA-6D1640B4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986102"/>
            <a:ext cx="101189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1B7A3248-7F13-42FB-BC4C-3E29DF30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007" y="3940692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1.34x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D1702D52-308C-4991-9ECA-29A65743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0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Speedup over one node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26DC73F9-3A83-4D8C-8193-47F7CB5A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02C37BC0-093F-4510-8C17-5B96E18D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535943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C4B533B-C926-4543-993F-7971B756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0FD8646-5757-417D-9621-8E31C08F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MNIST CNN benchmark has separately editable charts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282410-1890-4110-B569-CE78A9C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46CBDD4-F5A4-474D-A508-7ACC6911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These charts are rebuilt from the benchmark JSON instead of pasted as one screenshot, so each graph can be selected, resized, and edited independently in PowerPoint.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3A60679-C18A-4D9F-B6D4-E02A4442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Wall time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1B83E6-E0DF-4E62-B084-61E572DB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Lower is better; adding nodes reduced total training time.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52450" y="3505200"/>
          <a:ext xmlns:a="http://schemas.openxmlformats.org/drawingml/2006/main" cx="3333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70833889324127"/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0E52B40-D3F9-4E2E-BDD9-7E26ECEE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19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Throughput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7EE83DA-FDF6-4528-A1E4-7B07832A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Total train images processed per second across synchronized rounds.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457700" y="3505200"/>
          <a:ext xmlns:a="http://schemas.openxmlformats.org/drawingml/2006/main" cx="3333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f9f517a764415c"/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7ED5CE8-D72F-4CF9-82CE-CFB544AA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19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Speedup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D0EB350-6ED7-4C93-8EB9-FBD7CA5D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Measured speedup relative to the one-node baseline.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362950" y="3505200"/>
          <a:ext xmlns:a="http://schemas.openxmlformats.org/drawingml/2006/main" cx="3333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2ce55aaa5a4dd2"/>
          </a:graphicData>
        </a:graphic>
      </p:graphicFrame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07CFC0-4E5B-4A53-871E-15B7259F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D96B758-CD0C-4267-BEA9-5B91BE33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04580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1E76C1D-1BC0-4F7B-9F76-CA18CC85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081F72-0AFB-4C48-89AA-359EB0A0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Accuracy stayed strong while all nodes contributed work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D2BAD2-F539-479B-A745-78D6B7CF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EE95138-3BED-4A33-8065-643CF10A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largest run trained the same simple CNN across three selected nodes. The contribution chart shows local training time alongside CPU share, which helps explain the different per-host timings.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FE6880-34A5-4DB1-9C58-F2F6E7BD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Test accuracy by round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FEB6511-0E67-413F-A622-06E429B5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Largest three-node run; values are final evaluation after each synchronization round.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52450" y="3543300"/>
          <a:ext xmlns:a="http://schemas.openxmlformats.org/drawingml/2006/main" cx="3333750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78b14b4cb04a0e"/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B17A42C-A383-461B-B92B-266FB496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Test loss by round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EEA1281-6645-4482-BFB0-37EFE1ED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Loss improved across the synchronized rounds in the three-node run.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4457700" y="3543300"/>
          <a:ext xmlns:a="http://schemas.openxmlformats.org/drawingml/2006/main" cx="3333750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d5538f4add4706"/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2163FC7-52D2-4425-AAE9-B4B7DFEA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Per-host train seconds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74C57D2-9AC7-4D2B-8C8C-7DDC911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Each host trained an equal image share in the largest run.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8362950" y="3543300"/>
          <a:ext xmlns:a="http://schemas.openxmlformats.org/drawingml/2006/main" cx="3333750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fcdea19a3842ba"/>
          </a:graphicData>
        </a:graphic>
      </p:graphicFrame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C5E3309-F0AC-442E-92BD-B39F28FA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5626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Abimbolas: 4 CPUs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E4DC86C-6E52-4F20-8EEC-8D4D3D2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721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BaddestM4.local: 10 CPUs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05D5587-86EF-4774-9492-5373F73F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981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F6TMFW21C3: 12 CPUs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15A926B-5690-47D2-9397-54A086F6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32258F9-2585-43A5-9E98-41DD31CE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951299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3F2FFF2-AA1E-4672-8D84-3AB632F5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F41EE3-C81E-45FB-9911-29234480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ports are not personal file access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99ADD2-8BBA-46F5-8E6D-19AAA85A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3CDB6BB-4901-406A-A6B7-8C7B639E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treats ports as a narrow cluster-control channel. The app uses a fixed allowlist, private-network firewall scope, and a dedicated worker account so compute can be shared without turning a laptop into a file server.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3A279ED-E07D-4C83-8C38-07274272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1087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EEF5B31-D412-4DF4-8760-25C37F3B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Port or range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D9F4F48-82C0-4874-9AE5-215A0747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860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What it is for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567A15B-F98F-4A8E-AB86-E6933BD9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860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Security boundary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F4C14D-5A49-443A-81DA-08C6FC31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50D7AE1-7B2A-4018-8E52-5FDC9FB4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6379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02EBDAE-0E68-4D17-B891-32676B36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67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head / GCS registration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B4AE827-5F2A-46CA-AA9E-5DB9D7BD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670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Coordinator port; private lab network only.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773BBA6-8C69-4DF0-B770-36520E9D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F1C4F0-5184-42E2-BC75-F131A529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8265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F4321BB-02B3-4FB1-8503-1F5FCED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62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Dashboard and jobs endpoint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F58F97A-D592-46A3-B423-F61FB1C5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62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Token/session guarded and not exposed to the internet.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9164CA7-C77D-42CE-A238-2924D585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DE0E347-D6AC-430C-95E8-ED16352F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10001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3F35E9D-EA53-418E-A2D9-915D2559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576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Optional Ray client traffic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9F924E1-0A0C-4521-A399-44825819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576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Same private-network scope as the coordinator.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DDD2CAD-DB39-4D9A-B051-7A9813E6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B95F9B2-A25C-4E65-9165-DEE16A94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529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18075-18077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CA27639-9874-436B-944A-965212B1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529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Preflight and worker callbacks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4266D24-332B-46EC-A9AF-559B1789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529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Used to verify bidirectional reachability before startup.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E3B4CC5-95F8-475E-B60C-6FEE6646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0024CE9-C580-4934-8A80-27A518AD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20000-29999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EB904A8-0B4C-4D82-B047-2B8FBE7D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482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worker task ports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D27ADA0-3F01-4E8A-AAF8-72BA1A34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482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Inbound rules are scoped to coordinator/local subnet.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F54F221-7EDA-4630-85D4-826D614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A9D5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4B1DC59-5199-4939-A765-B30616D8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64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Key distinction: RayLab opens compute coordination, not SMB, AFP, OneDrive, SSH, or arbitrary file sharing.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AF96BB9-ED37-4B92-8B88-8FB9E125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912E31C-F1B0-4038-A76B-898475B5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480847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C1F816A-9FF0-4ABE-9447-AB465B04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3AF4D7-30AA-4DA8-AAFC-5825E967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security case is layered, not just a port number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ED5DB53-BC4A-4DF2-B312-F90F5BCC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0C78E7-2EB5-472D-BCE4-771C345E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answer to the security concern is not 'trust the open port'. It is: restrict who can reach it, keep the port list explicit, run work under a constrained account, and block startup when the network is wrong.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C5F2D8-6EDA-4141-BBC3-32C08257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17DAFC1-4A84-4686-9126-C5498F5A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84DF985-60E4-4020-8CB0-C2EF2E2A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Fixed allowlist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DD84B8-6B36-457F-A4AC-E42AC8AB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uses known ports for head, dashboard, client, callback, and task traffic instead of leaving the network surface implicit.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A672D05-644B-48CD-AB87-61A1DD65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65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357BF8C-D789-4BD2-8353-9CF691A2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2B0405E-45C3-4665-BC83-656FEE90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Private network scope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446E477-B956-4AFD-831D-A4875A70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Firewall setup allows only the coordinator or local subnet. Public internet and broad campus exposure are out of policy.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B92A6D0-DD9C-4BCB-80FA-142C2B9C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0C2CB8F-B319-4C36-973D-07C5968E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7D60F2A-5F03-4699-AC94-6C0D9C46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Dedicated worker account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3B79BC1-A24E-4B7F-80E4-7D7A656A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Worker jobs run under the RayLab worker identity, separating contributed compute from a participant's normal desktop profile.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80A6954-808A-483E-BB45-4F15DC42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918835D-A966-4505-A7A6-9FFDE12E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7E26AF5-1868-45E4-BC8D-7D08E6BF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86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Preflight and audit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75FE6D3-151F-47B1-82FB-3572856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673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Network checks verify the callback path before Ray starts, and setup/terminal logs show what was opened or changed.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ECE29FC-5673-4FD2-87F6-EB5F35AB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49"/>
            <a:ext cx="10715625" cy="5333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A9D5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446B853-52AC-4A12-BCC0-207EFF32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648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Positioning for colleagues: </a:t>
            </a: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RayLab</a:t>
            </a: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 shares compute capacity, not personal folders. File access still follows the operating-system account, folder permissions, and explicit data paths chosen for the job.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98E080B-70DC-4571-8264-327DB0F7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690891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B5879F6-21E6-4827-890A-736FE618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can do next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D47980-0472-4C93-A381-698360CB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prototype is far enough to demonstrate value. The next step is to pick two or three real lab workloads and make RayLab the easiest way to run them together.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DC97FC-6395-4793-B8BB-64F69470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EE47A8-3A8A-4CB4-9AD2-966F6AE2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Package a reproducible demo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7E97A9-F2AF-4141-902D-668FABD8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Keep Monte Carlo and MNIST as the baseline demos for new machines.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C597082-C573-489F-A2CA-20764195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594E215-AA03-4CA0-A481-9E02DFE0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Invite a small pilot group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5A2D7D3-BECE-4C77-A013-E25084B3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Test with colleagues who already run Python, ML, or simulation jobs.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DDF0310-4C6D-4D32-96BE-2A2CD1ED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530E0-C104-47B4-A545-11E8B7DA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Add workload templates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F145B84-D3E8-4E96-BC1B-6BC5DEB8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Make common jobs one-click: batch inference, Ray Tune sweeps, and data transforms.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1663E87-E864-4C8E-B8D5-1C7C20DB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903" y="3533775"/>
            <a:ext cx="3523807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Distributed computing becomes useful when it feels ordinary enough to try.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2E04FB7-4767-4978-AF47-91914771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F6A3142-98BA-4241-A53E-74C8DCCF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82130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2026-08-16T17:52:03.6720000Z</dcterms:created>
  <dcterms:modified xsi:type="dcterms:W3CDTF">2026-08-16T17:52:03.6720000Z</dcterms:modified>
</coreProperties>
</file>