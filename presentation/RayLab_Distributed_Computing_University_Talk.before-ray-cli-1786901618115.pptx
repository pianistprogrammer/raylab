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49f431e99482f" /><Relationship Type="http://schemas.openxmlformats.org/officeDocument/2006/relationships/extended-properties" Target="/docProps/app.xml" Id="R9112a029aa414d53" /><Relationship Type="http://schemas.openxmlformats.org/officeDocument/2006/relationships/officeDocument" Target="/ppt/presentation.xml" Id="Rd4af935498cb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546a23072440f"/>
  </p:sldMasterIdLst>
  <p:notesMasterIdLst>
    <p:notesMasterId xmlns:r="http://schemas.openxmlformats.org/officeDocument/2006/relationships" r:id="R22d9e2ee82bb4927"/>
  </p:notesMasterIdLst>
  <p:sldIdLst>
    <p:sldId xmlns:r="http://schemas.openxmlformats.org/officeDocument/2006/relationships" id="256" r:id="Reb2ed30774c84c15"/>
    <p:sldId xmlns:r="http://schemas.openxmlformats.org/officeDocument/2006/relationships" id="257" r:id="Racf87b0528c94857"/>
    <p:sldId xmlns:r="http://schemas.openxmlformats.org/officeDocument/2006/relationships" id="258" r:id="Raef1667fcb6346b4"/>
    <p:sldId xmlns:r="http://schemas.openxmlformats.org/officeDocument/2006/relationships" id="259" r:id="Rcfd079cec1744adb"/>
    <p:sldId xmlns:r="http://schemas.openxmlformats.org/officeDocument/2006/relationships" id="260" r:id="R30ac347f0a0d44c1"/>
    <p:sldId xmlns:r="http://schemas.openxmlformats.org/officeDocument/2006/relationships" id="261" r:id="R28b07badf39b4239"/>
    <p:sldId xmlns:r="http://schemas.openxmlformats.org/officeDocument/2006/relationships" id="262" r:id="Rb43936e45c1a4ba0"/>
    <p:sldId xmlns:r="http://schemas.openxmlformats.org/officeDocument/2006/relationships" id="263" r:id="R12ac933869e44dfc"/>
    <p:sldId xmlns:r="http://schemas.openxmlformats.org/officeDocument/2006/relationships" id="264" r:id="Rafa599949272497b"/>
    <p:sldId xmlns:r="http://schemas.openxmlformats.org/officeDocument/2006/relationships" id="265" r:id="R14211f72458f40ca"/>
    <p:sldId xmlns:r="http://schemas.openxmlformats.org/officeDocument/2006/relationships" id="266" r:id="R85b721b9e93c4a93"/>
    <p:sldId xmlns:r="http://schemas.openxmlformats.org/officeDocument/2006/relationships" id="267" r:id="R0f9806e4ca7e406a"/>
    <p:sldId xmlns:r="http://schemas.openxmlformats.org/officeDocument/2006/relationships" id="268" r:id="R2e7674f818b148c7"/>
    <p:sldId xmlns:r="http://schemas.openxmlformats.org/officeDocument/2006/relationships" id="269" r:id="R68cdfbe7bf1a4c4d"/>
    <p:sldId xmlns:r="http://schemas.openxmlformats.org/officeDocument/2006/relationships" id="270" r:id="R0b5898ebd8744d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ef160f2f349ed" /><Relationship Type="http://schemas.openxmlformats.org/officeDocument/2006/relationships/slideMaster" Target="/ppt/slideMasters/slideMaster1.xml" Id="Rbfb546a23072440f" /><Relationship Type="http://schemas.openxmlformats.org/officeDocument/2006/relationships/notesMaster" Target="/ppt/notesMasters/notesMaster1.xml" Id="R22d9e2ee82bb4927" /><Relationship Type="http://schemas.openxmlformats.org/officeDocument/2006/relationships/presProps" Target="/ppt/presProps.xml" Id="R0415e238322f4fc4" /><Relationship Type="http://schemas.openxmlformats.org/officeDocument/2006/relationships/viewProps" Target="/ppt/viewProps.xml" Id="Rd5d15047916f4716" /><Relationship Type="http://schemas.openxmlformats.org/officeDocument/2006/relationships/tableStyles" Target="/ppt/tableStyles.xml" Id="Rc07abba383dd4bfd" /><Relationship Type="http://schemas.openxmlformats.org/officeDocument/2006/relationships/slide" Target="/ppt/slides/slide1.xml" Id="Reb2ed30774c84c15" /><Relationship Type="http://schemas.openxmlformats.org/officeDocument/2006/relationships/slide" Target="/ppt/slides/slide2.xml" Id="Racf87b0528c94857" /><Relationship Type="http://schemas.openxmlformats.org/officeDocument/2006/relationships/slide" Target="/ppt/slides/slide3.xml" Id="Raef1667fcb6346b4" /><Relationship Type="http://schemas.openxmlformats.org/officeDocument/2006/relationships/slide" Target="/ppt/slides/slide4.xml" Id="Rcfd079cec1744adb" /><Relationship Type="http://schemas.openxmlformats.org/officeDocument/2006/relationships/slide" Target="/ppt/slides/slide5.xml" Id="R30ac347f0a0d44c1" /><Relationship Type="http://schemas.openxmlformats.org/officeDocument/2006/relationships/slide" Target="/ppt/slides/slide6.xml" Id="R28b07badf39b4239" /><Relationship Type="http://schemas.openxmlformats.org/officeDocument/2006/relationships/slide" Target="/ppt/slides/slide7.xml" Id="Rb43936e45c1a4ba0" /><Relationship Type="http://schemas.openxmlformats.org/officeDocument/2006/relationships/slide" Target="/ppt/slides/slide8.xml" Id="R12ac933869e44dfc" /><Relationship Type="http://schemas.openxmlformats.org/officeDocument/2006/relationships/slide" Target="/ppt/slides/slide9.xml" Id="Rafa599949272497b" /><Relationship Type="http://schemas.openxmlformats.org/officeDocument/2006/relationships/slide" Target="/ppt/slides/slide10.xml" Id="R14211f72458f40ca" /><Relationship Type="http://schemas.openxmlformats.org/officeDocument/2006/relationships/slide" Target="/ppt/slides/slide11.xml" Id="R85b721b9e93c4a93" /><Relationship Type="http://schemas.openxmlformats.org/officeDocument/2006/relationships/slide" Target="/ppt/slides/slide12.xml" Id="R0f9806e4ca7e406a" /><Relationship Type="http://schemas.openxmlformats.org/officeDocument/2006/relationships/slide" Target="/ppt/slides/slide13.xml" Id="R2e7674f818b148c7" /><Relationship Type="http://schemas.openxmlformats.org/officeDocument/2006/relationships/slide" Target="/ppt/slides/slide14.xml" Id="R68cdfbe7bf1a4c4d" /><Relationship Type="http://schemas.openxmlformats.org/officeDocument/2006/relationships/slide" Target="/ppt/slides/slide15.xml" Id="R0b5898ebd8744d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1067e391a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23843b9294609" /><Relationship Type="http://schemas.openxmlformats.org/officeDocument/2006/relationships/notesMaster" Target="/ppt/notesMasters/notesMaster1.xml" Id="Re4be8b2a1faf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5372c2443475f" /><Relationship Type="http://schemas.openxmlformats.org/officeDocument/2006/relationships/notesMaster" Target="/ppt/notesMasters/notesMaster1.xml" Id="R04b88d551131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5996020df84fa8" /><Relationship Type="http://schemas.openxmlformats.org/officeDocument/2006/relationships/notesMaster" Target="/ppt/notesMasters/notesMaster1.xml" Id="R96ba7fb28be7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7541a61d94d27" /><Relationship Type="http://schemas.openxmlformats.org/officeDocument/2006/relationships/notesMaster" Target="/ppt/notesMasters/notesMaster1.xml" Id="R1c9e67516873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cc8610d77142df" /><Relationship Type="http://schemas.openxmlformats.org/officeDocument/2006/relationships/notesMaster" Target="/ppt/notesMasters/notesMaster1.xml" Id="Re5aaa00a7b1c44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8eaa3556294491" /><Relationship Type="http://schemas.openxmlformats.org/officeDocument/2006/relationships/notesMaster" Target="/ppt/notesMasters/notesMaster1.xml" Id="R85300360132542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3d56682114244" /><Relationship Type="http://schemas.openxmlformats.org/officeDocument/2006/relationships/notesMaster" Target="/ppt/notesMasters/notesMaster1.xml" Id="Rc4bd4122493e45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d9382923e4eb9" /><Relationship Type="http://schemas.openxmlformats.org/officeDocument/2006/relationships/notesMaster" Target="/ppt/notesMasters/notesMaster1.xml" Id="R83d37ff42fe64c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49fa1ac0042df" /><Relationship Type="http://schemas.openxmlformats.org/officeDocument/2006/relationships/notesMaster" Target="/ppt/notesMasters/notesMaster1.xml" Id="R0906e4930e314c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3122dcaa0748c9" /><Relationship Type="http://schemas.openxmlformats.org/officeDocument/2006/relationships/notesMaster" Target="/ppt/notesMasters/notesMaster1.xml" Id="R4fabeba9e1ba45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7075de66cd4b36" /><Relationship Type="http://schemas.openxmlformats.org/officeDocument/2006/relationships/notesMaster" Target="/ppt/notesMasters/notesMaster1.xml" Id="R85e176b348d14e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c3e4af65d24a68" /><Relationship Type="http://schemas.openxmlformats.org/officeDocument/2006/relationships/notesMaster" Target="/ppt/notesMasters/notesMaster1.xml" Id="R39c56fbab02142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8531269203409d" /><Relationship Type="http://schemas.openxmlformats.org/officeDocument/2006/relationships/notesMaster" Target="/ppt/notesMasters/notesMaster1.xml" Id="R7f0c5156cf8544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c6f71533914305" /><Relationship Type="http://schemas.openxmlformats.org/officeDocument/2006/relationships/notesMaster" Target="/ppt/notesMasters/notesMaster1.xml" Id="R243b233215f545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44238c0c494f1e" /><Relationship Type="http://schemas.openxmlformats.org/officeDocument/2006/relationships/notesMaster" Target="/ppt/notesMasters/notesMaster1.xml" Id="Rd442005e03ba4d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project: RayDesktop / RayLab application and benchmark folder.</a:t>
            </a:r>
          </a:p>
          <a:p xmlns:a="http://schemas.openxmlformats.org/drawingml/2006/main">
            <a:r>
              <a:t>Ray documentation for distributed compute concepts: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Agenda derived from the user's requested topics for a university colleague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documentation describes Ray as a framework for scaling Python and AI workloads across clusters: https://docs.ray.io/</a:t>
            </a:r>
          </a:p>
          <a:p xmlns:a="http://schemas.openxmlformats.org/drawingml/2006/main">
            <a:r>
              <a:t>Benefits framed from local RayLab prototype behavior and benchmark results in benchmark/.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Core tasks and actors are the scheduling primitives described in Ray documentation: https://docs.ray.io/en/latest/ray-core/walkthrough.html</a:t>
            </a:r>
          </a:p>
          <a:p xmlns:a="http://schemas.openxmlformats.org/drawingml/2006/main">
            <a:r>
              <a:t>RayLab host/join responsibilities are based on the local app UI and configuration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documentation describes Ray Core tasks/actors and Ray libraries for Train, Tune, Data, and Serve: https://docs.ray.io/</a:t>
            </a:r>
          </a:p>
          <a:p xmlns:a="http://schemas.openxmlformats.org/drawingml/2006/main">
            <a:r>
              <a:t>Apache Spark project documentation describes Spark as a unified engine for large-scale data analytics: https://spark.apache.org/</a:t>
            </a:r>
          </a:p>
          <a:p xmlns:a="http://schemas.openxmlformats.org/drawingml/2006/main">
            <a:r>
              <a:t>Dask documentation describes Dask as parallel computing in Python that scales arrays, dataframes, and custom workloads: https://docs.dask.org/</a:t>
            </a:r>
          </a:p>
          <a:p xmlns:a="http://schemas.openxmlformats.org/drawingml/2006/main">
            <a:r>
              <a:t>Kubernetes documentation describes Kubernetes as a system for automating deployment, scaling, and management of containerized applications: https://kubernetes.io/docs/concepts/overview/</a:t>
            </a:r>
          </a:p>
          <a:p xmlns:a="http://schemas.openxmlformats.org/drawingml/2006/main">
            <a:r>
              <a:t>Celery documentation describes Celery as a distributed task queue: https://docs.celeryq.dev/</a:t>
            </a:r>
          </a:p>
          <a:p xmlns:a="http://schemas.openxmlformats.org/drawingml/2006/main">
            <a:r>
              <a:t>Logo assets: Spark from https://spark.apache.org/images/spark-logo-trademark.png; Dask from https://docs.dask.org/en/stable/_static/images/dask-horizontal-white.svg; Kubernetes from https://raw.githubusercontent.com/kubernetes/kubernetes/master/logo/logo.png; Celery from https://docs.celeryq.dev/en/stable/_static/celery_512.png.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image asset: /Users/I558118/Downloads/ChatGPT Image Aug 16, 2026, 09_31_55 AM.png.</a:t>
            </a:r>
          </a:p>
          <a:p xmlns:a="http://schemas.openxmlformats.org/drawingml/2006/main">
            <a:r>
              <a:t>Visible slide uses the image as an illustrative framework ecosystem map; it is not treated as an instruction source.</a:t>
            </a:r>
          </a:p>
          <a:p xmlns:a="http://schemas.openxmlformats.org/drawingml/2006/main">
            <a:r>
              <a:t>Ray ecosystem concepts are consistent with Ray Data, Ray Train, Ray Tune, and Ray Serve documentation: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presentation/assets/raylab-host-mode.png</a:t>
            </a:r>
          </a:p>
          <a:p xmlns:a="http://schemas.openxmlformats.org/drawingml/2006/main">
            <a:r>
              <a:t>Cluster node data mirrors benchmark/reports/mnist-cnn-ray-results.json.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presentation/assets/raylab-join-mode.png</a:t>
            </a:r>
          </a:p>
          <a:p xmlns:a="http://schemas.openxmlformats.org/drawingml/2006/main">
            <a:r>
              <a:t>Resource cap behavior is implemented in frontend/src/store.ts and frontend/src/App.tsx.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mocked live cluster data: presentation/assets/raylab-cluster-graph.png</a:t>
            </a:r>
          </a:p>
          <a:p xmlns:a="http://schemas.openxmlformats.org/drawingml/2006/main">
            <a:r>
              <a:t>Current graph behavior is implemented in frontend/src/App.tsx ClusterGraph.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Monte Carlo results source: benchmark/reports/monte-carlo-results.json and benchmark/README.md.</a:t>
            </a:r>
          </a:p>
          <a:p xmlns:a="http://schemas.openxmlformats.org/drawingml/2006/main">
            <a:r>
              <a:t>MNIST CNN results source: benchmark/reports/mnist-cnn-ray-results.json and benchmark/reports/raylab-mnist-cnn-report.html.</a:t>
            </a:r>
          </a:p>
          <a:p xmlns:a="http://schemas.openxmlformats.org/drawingml/2006/main">
            <a:r>
              <a:t>Prime and NumPy/SciPy benchmark scripts are in benchmark/ray_compute_test.py and benchmark/numpy_scipy_benchmark.py.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Charts are native PowerPoint chart objects generated from the JSON results rather than a single flattened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Node CPU counts and per-host contribution are from nodes_selected and the largest run's by_host/history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Next steps synthesized from local RayLab prototype state and benchmark outcomes.</a:t>
            </a:r>
          </a:p>
          <a:p xmlns:a="http://schemas.openxmlformats.org/drawingml/2006/main">
            <a:r>
              <a:t>Ray documentation for Ray Tune, Ray Train, and Ray Data: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RayLab default port map source: electron/src/storage.js and frontend/src/store.ts.</a:t>
            </a:r>
          </a:p>
          <a:p xmlns:a="http://schemas.openxmlformats.org/drawingml/2006/main">
            <a:r>
              <a:t>RayLab rollout port policy source: docs/rollout.md, especially the 'No public exposure' and port map sections.</a:t>
            </a:r>
          </a:p>
          <a:p xmlns:a="http://schemas.openxmlformats.org/drawingml/2006/main">
            <a:r>
              <a:t>Ray startup arguments for fixed node manager, object manager, and worker port ranges source: electron/src/ray_control.js.</a:t>
            </a:r>
          </a:p>
          <a:p xmlns:a="http://schemas.openxmlformats.org/drawingml/2006/main">
            <a:r>
              <a:t>Ray security guidance recommends controlled networks for Ray clusters: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Dedicated worker-account design source: docs/rollout.md and local setup behavior implemented in electron/src/setup_runner.js.</a:t>
            </a:r>
          </a:p>
          <a:p xmlns:a="http://schemas.openxmlformats.org/drawingml/2006/main">
            <a:r>
              <a:t>Windows firewall rule scoping source: electron/src/setup_runner.js, which creates RayLab rules for coordinator/local-subnet access rather than unrestricted public access.</a:t>
            </a:r>
          </a:p>
          <a:p xmlns:a="http://schemas.openxmlformats.org/drawingml/2006/main">
            <a:r>
              <a:t>Network preflight source: electron/src/network_preflight.js and electron/src/setup_runner.js.</a:t>
            </a:r>
          </a:p>
          <a:p xmlns:a="http://schemas.openxmlformats.org/drawingml/2006/main">
            <a:r>
              <a:t>Ray security guidance notes that Ray should run in a controlled network environment: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38f5f6ac64c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9b3820e2d4f6d" /><Relationship Type="http://schemas.openxmlformats.org/officeDocument/2006/relationships/slideLayout" Target="/ppt/slideLayouts/slideLayout1.xml" Id="Raa184200c51541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84200c51541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21f4bbb454b26" /><Relationship Type="http://schemas.openxmlformats.org/officeDocument/2006/relationships/notesSlide" Target="/ppt/notesSlides/notesSlide1.xml" Id="R4fd32a442c104e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69067d79452b" /><Relationship Type="http://schemas.openxmlformats.org/officeDocument/2006/relationships/notesSlide" Target="/ppt/notesSlides/notesSlide2.xml" Id="R7dd7ff95c96e47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05c7723624528" /><Relationship Type="http://schemas.openxmlformats.org/officeDocument/2006/relationships/notesSlide" Target="/ppt/notesSlides/notesSlide3.xml" Id="R37307b9330a946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8cd9734434480" /><Relationship Type="http://schemas.openxmlformats.org/officeDocument/2006/relationships/notesSlide" Target="/ppt/notesSlides/notesSlide4.xml" Id="R4ff6d7e613a141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6a6421cb7400d" /><Relationship Type="http://schemas.openxmlformats.org/officeDocument/2006/relationships/image" Target="/ppt/media/image.png" Id="Rdc4b74528db540da" /><Relationship Type="http://schemas.openxmlformats.org/officeDocument/2006/relationships/image" Target="/ppt/media/image2.png" Id="R34197db9d5c449b5" /><Relationship Type="http://schemas.openxmlformats.org/officeDocument/2006/relationships/image" Target="/ppt/media/image3.png" Id="Rcd9491c18fcc40d0" /><Relationship Type="http://schemas.openxmlformats.org/officeDocument/2006/relationships/image" Target="/ppt/media/image4.png" Id="R1e90374293f04201" /><Relationship Type="http://schemas.openxmlformats.org/officeDocument/2006/relationships/notesSlide" Target="/ppt/notesSlides/notesSlide5.xml" Id="Rcfa1bbdc3b0a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1a5c51d434126" /><Relationship Type="http://schemas.openxmlformats.org/officeDocument/2006/relationships/image" Target="/ppt/media/image5.png" Id="Rb63d27cb52d44c6f" /><Relationship Type="http://schemas.openxmlformats.org/officeDocument/2006/relationships/notesSlide" Target="/ppt/notesSlides/notesSlide6.xml" Id="R81d1b0294c384b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3620343434884" /><Relationship Type="http://schemas.openxmlformats.org/officeDocument/2006/relationships/image" Target="/ppt/media/image6.png" Id="Rf95564baf70448e1" /><Relationship Type="http://schemas.openxmlformats.org/officeDocument/2006/relationships/notesSlide" Target="/ppt/notesSlides/notesSlide7.xml" Id="R09747db6e0ed4d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6dc57d8e745bf" /><Relationship Type="http://schemas.openxmlformats.org/officeDocument/2006/relationships/image" Target="/ppt/media/image7.png" Id="Re5ba4afe4d1743ca" /><Relationship Type="http://schemas.openxmlformats.org/officeDocument/2006/relationships/notesSlide" Target="/ppt/notesSlides/notesSlide8.xml" Id="Rb34a9e9727134f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a385c698a4a3a" /><Relationship Type="http://schemas.openxmlformats.org/officeDocument/2006/relationships/image" Target="/ppt/media/image8.png" Id="R0a26026f308a4a9f" /><Relationship Type="http://schemas.openxmlformats.org/officeDocument/2006/relationships/notesSlide" Target="/ppt/notesSlides/notesSlide9.xml" Id="Rfc5fb1161d4044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375286d4d4ab7" /><Relationship Type="http://schemas.openxmlformats.org/officeDocument/2006/relationships/notesSlide" Target="/ppt/notesSlides/notesSlide10.xml" Id="R90206b709f94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5b1397aa54556" /><Relationship Type="http://schemas.openxmlformats.org/officeDocument/2006/relationships/chart" Target="/ppt/slides/charts/chart1.xml" Id="R3147e6dc9a884be7" /><Relationship Type="http://schemas.openxmlformats.org/officeDocument/2006/relationships/chart" Target="/ppt/slides/charts/chart2.xml" Id="Reb4b4ca71efa4ed9" /><Relationship Type="http://schemas.openxmlformats.org/officeDocument/2006/relationships/chart" Target="/ppt/slides/charts/chart3.xml" Id="R28f7b2b0e78745d0" /><Relationship Type="http://schemas.openxmlformats.org/officeDocument/2006/relationships/notesSlide" Target="/ppt/notesSlides/notesSlide11.xml" Id="R7f74ccd2738e45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ba0fd4b864f0b" /><Relationship Type="http://schemas.openxmlformats.org/officeDocument/2006/relationships/chart" Target="/ppt/slides/charts/chart4.xml" Id="Rb566c01a6223403c" /><Relationship Type="http://schemas.openxmlformats.org/officeDocument/2006/relationships/chart" Target="/ppt/slides/charts/chart5.xml" Id="R265e0188bc184bdc" /><Relationship Type="http://schemas.openxmlformats.org/officeDocument/2006/relationships/chart" Target="/ppt/slides/charts/chart6.xml" Id="R4737aed26fc547e3" /><Relationship Type="http://schemas.openxmlformats.org/officeDocument/2006/relationships/notesSlide" Target="/ppt/notesSlides/notesSlide12.xml" Id="R04d761ded5344c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781b7075b40ed" /><Relationship Type="http://schemas.openxmlformats.org/officeDocument/2006/relationships/notesSlide" Target="/ppt/notesSlides/notesSlide13.xml" Id="R66c021d4069a4c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c7560b4724111" /><Relationship Type="http://schemas.openxmlformats.org/officeDocument/2006/relationships/notesSlide" Target="/ppt/notesSlides/notesSlide14.xml" Id="Ra98b0b4700024b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dd3c18ffd4d7f" /><Relationship Type="http://schemas.openxmlformats.org/officeDocument/2006/relationships/notesSlide" Target="/ppt/notesSlides/notesSlide15.xml" Id="Rb3e9161b97944fe5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</c:formatCode>
              <c:ptCount val="3"/>
              <c:pt idx="0">
                <c:v>18.6</c:v>
              </c:pt>
              <c:pt idx="1">
                <c:v>15.1</c:v>
              </c:pt>
              <c:pt idx="2">
                <c:v>13.8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Throughput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#,##0</c:formatCode>
              <c:ptCount val="3"/>
              <c:pt idx="0">
                <c:v>6466.588583682945</c:v>
              </c:pt>
              <c:pt idx="1">
                <c:v>7967.37249420724</c:v>
              </c:pt>
              <c:pt idx="2">
                <c:v>8677.64216776311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Speedup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0.00\x</c:formatCode>
              <c:ptCount val="3"/>
              <c:pt idx="0">
                <c:v>1</c:v>
              </c:pt>
              <c:pt idx="1">
                <c:v>1.2320827884908596</c:v>
              </c:pt>
              <c:pt idx="2">
                <c:v>1.3419196312657475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\x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accuracy by round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F766E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0.0%</c:formatCode>
              <c:ptCount val="5"/>
              <c:pt idx="0">
                <c:v>0.9354</c:v>
              </c:pt>
              <c:pt idx="1">
                <c:v>0.9536</c:v>
              </c:pt>
              <c:pt idx="2">
                <c:v>0.9588</c:v>
              </c:pt>
              <c:pt idx="3">
                <c:v>0.9678</c:v>
              </c:pt>
              <c:pt idx="4">
                <c:v>0.9654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loss by round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B45309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0.000</c:formatCode>
              <c:ptCount val="5"/>
              <c:pt idx="0">
                <c:v>0.2192081741333008</c:v>
              </c:pt>
              <c:pt idx="1">
                <c:v>0.1522359477996826</c:v>
              </c:pt>
              <c:pt idx="2">
                <c:v>0.12905887775421143</c:v>
              </c:pt>
              <c:pt idx="3">
                <c:v>0.10609913930892945</c:v>
              </c:pt>
              <c:pt idx="4">
                <c:v>0.10275714540481568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Per-host train seconds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Abimbolas</c:v>
              </c:pt>
              <c:pt idx="1">
                <c:v>BaddestM4.local</c:v>
              </c:pt>
              <c:pt idx="2">
                <c:v>F6TMFW21C3</c:v>
              </c:pt>
            </c:strLit>
          </c:cat>
          <c:val>
            <c:numLit>
              <c:formatCode>0.0</c:formatCode>
              <c:ptCount val="3"/>
              <c:pt idx="0">
                <c:v>4.3</c:v>
              </c:pt>
              <c:pt idx="1">
                <c:v>2.7</c:v>
              </c:pt>
              <c:pt idx="2">
                <c:v>1.5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13E8EA-DFEA-4C70-94E9-41074F1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RAYLAB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751577-4042-44CA-AF19-E472117C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66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Turning ordinary lab machines into a distributed compute cluster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0E3BD44-2B66-4D31-9571-48F62DB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practical university proof-of-concept using Ray, a desktop app, and real benchmarks across Windows and macOS nodes.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6FB035-1012-41EB-B888-2AE160F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4"/>
          </a:solidFill>
          <a:ln xmlns:a="http://schemas.openxmlformats.org/drawingml/2006/main" w="0">
            <a:solidFill>
              <a:srgbClr val="1D5F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F23636-9628-429E-B2DE-3C92E47F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Jeremiah Abimbola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153665-6CE0-4A9D-9F01-E3F0EED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9E8BC0-D98F-4D9A-82A5-3D4F64D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666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9E7973E-9C23-4331-BD76-5886117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E82C0F-3CE6-4691-B7D7-9F0EC05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will cover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7666F5-E589-49FA-A4A1-506A854F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8FAF4E-7DAC-4A88-9A78-C289356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272FA3A-B411-4E45-87EB-1A386935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DF78CEF-7849-43AE-B0BB-D53E28F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0EB41F-A488-426B-BBDD-B63361E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71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Why distributed work matters for a university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2027933-719C-4391-861D-AA3D73D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4F6D7A-F47B-4591-BEE8-961FACC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3E1735-7218-4748-BCB7-2F0BD91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Ray and RayLab organize machines into one cluster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A5A14A-B62A-42BB-BAA7-CFC81D19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52176D-EAD8-4A00-91FB-3C64C2B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9BEE582-80C5-499D-893D-DE2FE56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host mode and join mode look like in the desktop app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EA61BA-514B-4A2B-9185-88B6C40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4C29D7-A709-44C2-92C9-A909394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135F57D-848B-49D8-A671-298A0D2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Similar tools, and why we chose Ray for this prototype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04FA82B-6EEA-48C3-92E6-F89815E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AFFC41-EA75-4674-AFBF-0958AF1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5EA7809-7D8D-4903-BDCD-51100FB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76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common machine-learning frameworks connect to Ray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E251132-0401-4269-B8E2-352519C0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21CDD73-65E6-4AEF-A5BD-094C6B3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2A91E9D-D387-4960-9B12-EEAD2205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52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we ran and what they proved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E15F44-7E46-4DF8-8522-428DC4B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3523871-C643-411B-A732-5A6CFDD6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29D26DB-2028-4FEB-A06E-0333932D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try next as a lab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99509C8-1130-4482-BE4E-066DD47C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21D5BF3-12B1-4E9C-939D-4E5ECCF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064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6D6C41-76E4-462D-A312-7959860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981FAC-AC3F-4246-9A09-90DD205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opportunity is already sitting on our desks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CDD2BD-0EB0-4EA1-90D0-34D213E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079ADC8-176B-4A20-87F3-EF776669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Most labs have idle CPU, RAM, and sometimes GPU capacity spread across personal workstations. RayLab shows a path to turn that idle capacity into a shared compute surface without asking everyone to become a cluster administrator.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C510DA-B444-4990-A83E-0ECDBD1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42D0CF-5969-4C1F-99A1-1B8039D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More useful compute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7C7580-718B-4721-91E1-13644B3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Batch simulations, model training, data transforms, and inference jobs can use multiple machines instead of one laptop.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ABBAA7-4504-44B4-A8E9-67954D2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CEA8EC-B4AF-4631-9D45-B3B28CA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Lower barrier to entry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9D2098D-2A8D-4F75-8A46-51FD7A3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desktop host/join flow hides the operational details: ports, setup checks, worker accounts, Docker, and logs.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EB3F18-647C-4309-981A-4684233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9AF4C3-03AA-451E-A1ED-F5BBD2B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Better demos and teaching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8E9BC9-607D-4DCC-998D-D1DB4B1E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443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Students and colleagues can see distributed systems concepts using machines they recognize.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2B6A1B-582F-4B8B-B9C6-E2C4D28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E00333F-73B2-430C-8A6B-1854AD9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8673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A1AB0B-D48C-4B4D-9A25-C3360A0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C8CEE5-5CF1-429B-8F63-8485AE3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RayLab separates orchestration from contribution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7D1B4BD-B09A-4DF9-9680-9D44BE6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BFC0CA-657C-4D29-933C-54B10CF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DE2AA7-8691-48B6-9FAD-775EFCB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9FB89F-D6B1-40E0-AB19-BBE138C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Runs the Ray head node, dashboard, job submission endpoint, and live cluster graph.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C8EDCF-1D82-4B1E-98ED-A3F453C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2697"/>
            <a:ext cx="2762249" cy="122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D77416-CD3A-4499-8682-8BC9594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2655573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A5B758-3237-46DB-8C87-03469E5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3027048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schedules tasks and actors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230FC47-D81F-41F0-A300-273FA44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A796040-4E5A-4334-B8BC-CCB7CC9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A6968E-BFC2-4709-916E-41D5029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Offers local CPU, RAM, and GPU capacity under machine setup, schedule, and privacy controls.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2E6C7E-6FD5-4E7E-9AD5-02AAADF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key design idea: each machine remains locally controlled, while Ray gives the group a shared programming model for distributed jobs.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6D2693-946E-4867-890A-42B913F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29EC3A4-2CEE-4DF1-A89C-D419465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562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99BC9D-CE84-457B-9ED7-B7C77D2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C6A955-6832-4120-AD2E-588545B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fits the lab better than adjacent tools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EEA91D-C614-43D0-9B33-E42A7C8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0F538-A119-42C1-A98F-5458A0E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34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alternatives are excellent, but they each optimize for a narrower layer. Ray gave us one Python-first runtime for tasks, actors, training, tuning, data, and serving on machines people already 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AB4172-C8FE-4DAA-8BCE-7DF2A61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B58A5D-B9BE-4BD4-95FF-82075C7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b74528db540da"/>
          <a:stretch xmlns:a="http://schemas.openxmlformats.org/drawingml/2006/main"/>
        </p:blipFill>
        <p:spPr>
          <a:xfrm xmlns:a="http://schemas.openxmlformats.org/drawingml/2006/main">
            <a:off x="819150" y="3157639"/>
            <a:ext cx="590550" cy="314122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7ED28D-A8D8-44C0-A9B6-084ABFA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Apache Spark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B87938-07B9-4456-8301-01B50BAF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Large-scale SQL, ETL, and data processing.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11533-A605-47C9-9C36-972ACDA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Less natural for Python-native actors, mixed ML workloads, and interactive desktop-lab contribution.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C3343C-1DE1-40EE-BCFC-196E479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9FE138-606C-4636-9519-2FC0F58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97db9d5c449b5"/>
          <a:stretch xmlns:a="http://schemas.openxmlformats.org/drawingml/2006/main"/>
        </p:blipFill>
        <p:spPr>
          <a:xfrm xmlns:a="http://schemas.openxmlformats.org/drawingml/2006/main">
            <a:off x="6381750" y="3196590"/>
            <a:ext cx="590550" cy="23622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CE6E43-95AB-4B65-8CD0-1DD3AF5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Dask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17AAA9-EA7E-46B3-A0EA-125D1C91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Python-native scaling for arrays, dataframes, and NumPy/Pandas-style workloads.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39E9EB9-337C-406F-BF4D-8CB784E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Strong for data science parallelism, but not as complete as one runtime for Train, Tune, Serve, and actors.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BF5FFF9-1E0B-429A-991D-74C2AEB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E88A3A-9117-4F41-A931-B36DC29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491c18fcc40d0"/>
          <a:stretch xmlns:a="http://schemas.openxmlformats.org/drawingml/2006/main"/>
        </p:blipFill>
        <p:spPr>
          <a:xfrm xmlns:a="http://schemas.openxmlformats.org/drawingml/2006/main">
            <a:off x="898456" y="4781550"/>
            <a:ext cx="431938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A81D400-A1D3-475A-8443-ABA56452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DEB3A6F-33E1-4512-94E4-9EC0606C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Production-grade container orchestration and deployment.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A9D276A-C6C5-450A-B00D-A3CBB52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Powerful infrastructure, but operationally heavier and not itself a researcher-friendly compute API.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73DDB5-6F11-4D18-A71A-4ADC944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8753FFF-1A12-4552-9F2B-D461E2A9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0374293f04201"/>
          <a:stretch xmlns:a="http://schemas.openxmlformats.org/drawingml/2006/main"/>
        </p:blipFill>
        <p:spPr>
          <a:xfrm xmlns:a="http://schemas.openxmlformats.org/drawingml/2006/main">
            <a:off x="6467475" y="47815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B412B56-3284-4301-BA52-91C8D00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Celery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46DC57C-108B-438E-A025-13842B3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Reliable background jobs and web-task queues.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43B8965-6931-40BD-8641-0CD1484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Great for queues, but not designed as an ML, simulation, and distributed-data runtime.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96A679D-6B3C-4283-9B8F-74329FF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3CECE65-DFBA-4656-8142-583E669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0FCC9C-E41A-447E-B678-A2885FA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81BCB6-692B-40F5-B54C-1CE1F67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same Ray layer connects data, training, tuning, and serving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2418A5-0BFD-4D46-964D-707EB7C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d27cb52d44c6f"/>
          <a:stretch xmlns:a="http://schemas.openxmlformats.org/drawingml/2006/main"/>
        </p:blipFill>
        <p:spPr>
          <a:xfrm xmlns:a="http://schemas.openxmlformats.org/drawingml/2006/main">
            <a:off x="2457268" y="1943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1ADDB2-A0F2-4569-93D9-A323421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Pattern: Ray adds a distributed execution layer; familiar ML tools remain familiar.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D84691-FEE0-4596-B58A-32D1635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4AC898-86EE-4CBB-8D23-77A88B0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5644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31CD8D-6A2A-45EC-9A13-902FEF9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3B8F75-69E6-462F-8E56-F1D84AA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Host mode turns one machine into the cluster coordinator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F9ADCB-4A6A-493F-BD83-8D65E15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EF3790-4869-4DFB-B251-ACD10E5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host chooses network exposure, ports, resource caps, and can see active nodes. In practice, this becomes the control room for the lab cluster.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22BF4BD-8438-45AE-BFE8-D87965B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85D1F9-0D45-43D8-A696-A361EC2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 nodes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429603-E7EC-4E91-A648-CC872B8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Windows head plus two macOS contributors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893F69-54BE-4D70-AA3F-1999DB8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JOB SLOTS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E899A36-E143-4DE7-A605-3672347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E0EFDF4-564C-4247-8840-7B45EDB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Configured as RayLab max concurrent jobs</a:t>
            </a:r>
          </a:p>
        </p:txBody>
      </p:sp>
      <p:pic>
        <p:nvPicPr>
          <p:cNvPr id="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564baf70448e1"/>
          <a:srcRect xmlns:a="http://schemas.openxmlformats.org/drawingml/2006/main" l="0" t="3622" r="0" b="3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90700"/>
            <a:ext cx="6096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5F500F-EEC0-4125-B2BB-7A9D799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7C40FB-3B59-4BE5-A88B-078D1CC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6749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5C5FECF-A201-4B3D-A5A6-937B1AC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EA278F-8DC9-4256-B377-5A3ED0D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Join mode lets a colleague contribute safely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80598C-54E2-4C5F-8DDA-8F0E5BF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a4afe4d1743ca"/>
          <a:srcRect xmlns:a="http://schemas.openxmlformats.org/drawingml/2006/main" l="0" t="4215" r="0" b="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777C59-6882-4AA7-927B-E3351D6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9694"/>
            <a:ext cx="4662598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worker machine can join the coordinator, run setup, verify networking, and cap its contribution. The user remains in control of when and how much local compute is shared.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6846179-6D4D-4B03-892E-EE013CF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496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offered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455BB1-8F80-42F6-85D1-B0EF682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1BC2C8-20F8-40E1-A96F-B92EE3C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1825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56B7850-D4C9-4853-8489-6278E79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2496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10.00x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FB6A5B-AE70-40F5-BF1F-FD798E2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2590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RAM cap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840430-31D6-4AB5-91C2-EB20324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979F2C-F8DB-4C8A-AFA6-E7E025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6B6184-6F2D-4259-B860-39F7892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7259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32.00x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7DE3F3-A20A-4651-98B3-191C136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21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7EE543-66EF-41AB-BDF3-A2E2429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4A4E91D-B918-4926-9A43-D02FB1D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solidFill>
              <a:srgbClr val="2F9E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8770699-3DF8-4D3E-8FEC-FE60248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2021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6D6766-C7EB-4098-AA7F-4B725EA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DC2922C-5DC9-4C8F-8E78-0EAC369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3100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A2B01C5-718A-43EE-8E73-E99E91D7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E47002-12C4-49E8-8C05-3175D1D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cluster graph makes distributed work visible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142E03A-8204-4DE3-A9B1-7EC5F6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6026f308a4a9f"/>
          <a:srcRect xmlns:a="http://schemas.openxmlformats.org/drawingml/2006/main" l="0" t="9498" r="0" b="9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429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FD52F21-7C39-449B-9BE0-0587965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67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matters for teaching and debugging: colleagues can see which machines are alive, what each contributes, and whether the coordinator sees the same reality as the workers.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62A394-7802-4C49-95AB-83B1E5A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2253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Live nodes only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F512CD-DEC9-4A25-B2C7-9B17322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829" y="4746551"/>
            <a:ext cx="3197742" cy="118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graph intentionally shows current connected devices rather than remembered historical machines.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512B46-2213-489D-A4C2-6CC64AF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DB2988-00F9-4F6D-A940-6301164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825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26A8982-295D-4A25-A799-8914EA3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574B0-173D-4F6D-B1AC-05C909F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show both promise and engineering honesty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6AAC6E-1722-4541-A079-447E363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5EFA07-7654-4AC1-B2F6-3CF0B57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We tested both embarrassingly parallel work and real neural-network training. The message is credible because we also show where workload shape matters.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537798-2ADF-4EC6-9070-45766607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299"/>
            <a:ext cx="7198685" cy="2577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9F6B71-4498-4F14-81BF-18882A0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709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AE2176-895C-47C3-AF02-6486523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73A51C-26A3-47FF-8893-0C08033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67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What it did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E7DD8F-1D40-4166-956B-21DE131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Best result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7EE11-E048-4BC3-92D1-D617B07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7FD87A-E9EE-42D0-8D3C-63A547AF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1A9BB5-383E-408A-BCE9-B41C3C8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BEF2542-B0AA-43CE-B173-61F05A9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480M option-pricing paths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6484B15-74E6-455A-B4D6-1EAC107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2.26x speedup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CF78C0-45BC-4382-9DC8-8AE05BF5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Clean scaling story for independent tasks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57F9C5-8D3B-4D46-B2EA-D6F64D8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7096125" cy="542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54061B3-522F-445F-B6BB-AE9CA712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B382E2-28E0-4AAD-8524-31EDDED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43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simple CNN on MNIST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7BC17A5-06F8-4809-A7FC-57DE710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1.34x, 96.54%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BCBEEB9-8FC5-4F9F-9815-97436B1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4"/>
            <a:ext cx="185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training across all nodes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1C479C-9677-4D2A-A2D4-91270470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D12638F-A9D2-47B7-82EC-481D153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Prime count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B3849E7-226E-4E65-A6AC-A29A42E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005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Count primes below a limit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BBE4F72-D475-455E-B765-BA21054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005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distribution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FE0C079-1539-425C-964B-6894B19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005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Deterministic compute smoke test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6FA58CE-3C17-493A-915B-7F7DDF6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096125" cy="546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D0F2512-A12F-4B64-A685-05E61C97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NumPy/SciPy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BB56868-0D25-4727-AE8A-98B9C25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57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Dense math + solve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BEC1E2A-9DB4-4F10-9625-FE761AC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Limited scaling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679B04-BBA0-46AF-A4BA-6D6043A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577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Small shared libraries can bottleneck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F17E704-A262-4422-A44B-1347B14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404347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D200D90-D021-4750-B927-BB901AE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3554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5E97B63-ED9F-4AD5-B0D0-A16A203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7622CEB-A1ED-4940-A8FC-CFC7430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7041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5F81170-8A14-4FD5-947B-5815E5D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371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2.26x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741AF72-531C-4339-959F-2220B8B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9269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10715E2-B167-407A-BBBD-9BD7EF9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F5A23D-BE54-495C-91AA-6D1640B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0118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B7A3248-7F13-42FB-BC4C-3E29DF3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940692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1.34x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1702D52-308C-4991-9ECA-29A6574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Speedup over one node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6DC73F9-3A83-4D8C-8193-47F7CB5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2C37BC0-093F-4510-8C17-5B96E18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594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4B533B-C926-4543-993F-7971B75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FD8646-5757-417D-9621-8E31C0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MNIST CNN benchmark has separately editable charts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282410-1890-4110-B569-CE78A9C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6CBDD4-F5A4-474D-A508-7ACC691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These charts are rebuilt from the benchmark JSON instead of pasted as one screenshot, so each graph can be selected, resized, and edited independently in PowerPoint.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3A60679-C18A-4D9F-B6D4-E02A444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1B83E6-E0DF-4E62-B084-61E572D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Lower is better; adding nodes reduced total training time.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524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47e6dc9a884be7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E52B40-D3F9-4E2E-BDD9-7E26ECE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Throughput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EE83DA-FDF6-4528-A1E4-7B07832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Total train images processed per second across synchronized rounds.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45770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4b4ca71efa4ed9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ED5CE8-D72F-4CF9-82CE-CFB544A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Speedup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D0EB350-6ED7-4C93-8EB9-FBD7CA5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Measured speedup relative to the one-node baseline.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3629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f7b2b0e78745d0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07CFC0-4E5B-4A53-871E-15B7259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96B758-CD0C-4267-BEA9-5B91BE3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0458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E76C1D-1BC0-4F7B-9F76-CA18CC8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81F72-0AFB-4C48-89AA-359EB0A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Accuracy stayed strong while all nodes contributed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D2BAD2-F539-479B-A745-78D6B7C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E95138-3BED-4A33-8065-643CF10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largest run trained the same simple CNN across three selected nodes. The contribution chart shows local training time alongside CPU share, which helps explain the different per-host timings.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FE6880-34A5-4DB1-9C58-F2F6E7B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accuracy by round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EB6511-0E67-413F-A622-06E429B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Largest three-node run; values are final evaluation after each synchronization round.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524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66c01a6223403c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17A42C-A383-461B-B92B-266FB496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loss by round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EA1281-6645-4482-BFB0-37EFE1E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Loss improved across the synchronized rounds in the three-node run.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45770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5e0188bc184bdc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2163FC7-52D2-4425-AAE9-B4B7DFE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Per-host train seconds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74C57D2-9AC7-4D2B-8C8C-7DDC91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host trained an equal image share in the largest run.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3629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37aed26fc547e3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C5E3309-F0AC-442E-92BD-B39F28F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6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Abimbolas: 4 CPUs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E4DC86C-6E52-4F20-8EEC-8D4D3D2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BaddestM4.local: 10 CPUs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05D5587-86EF-4774-9492-5373F73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81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F6TMFW21C3: 12 CPUs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15A926B-5690-47D2-9397-54A086F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2258F9-2585-43A5-9E98-41DD31C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129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B5879F6-21E6-4827-890A-736FE61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do next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D47980-0472-4C93-A381-698360C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prototype is far enough to demonstrate value. The next step is to pick two or three real lab workloads and make RayLab the easiest way to run them together.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DC97FC-6395-4793-B8BB-64F69470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EE47A8-3A8A-4CB4-9AD2-966F6AE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Package a reproducible demo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7E97A9-F2AF-4141-902D-668FABD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Keep Monte Carlo and MNIST as the baseline demos for new machines.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597082-C573-489F-A2CA-2076419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94E215-AA03-4CA0-A481-9E02DFE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Invite a small pilot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A2D7D3-BECE-4C77-A013-E25084B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Test with colleagues who already run Python, ML, or simulation jobs.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DF0310-4C6D-4D32-96BE-2A2CD1E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530E0-C104-47B4-A545-11E8B7D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Add workload templates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F145B84-D3E8-4E96-BC1B-6BC5DEB8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Make common jobs one-click: batch inference, Ray Tune sweeps, and data transforms.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663E87-E864-4C8E-B8D5-1C7C20D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903" y="3533775"/>
            <a:ext cx="3523807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Distributed computing becomes useful when it feels ordinary enough to try.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E04FB7-4767-4978-AF47-91914771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6A3142-98BA-4241-A53E-74C8DCCF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21306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F2FFF2-AA1E-4672-8D84-3AB632F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41EE3-C81E-45FB-9911-2923448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ports are not personal file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9ADD2-8BBA-46F5-8E6D-19AAA85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DB6BB-4901-406A-A6B7-8C7B639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treats ports as a narrow cluster-control channel. The app uses a fixed allowlist, private-network firewall scope, and a dedicated worker account so compute can be shared without turning a laptop into a file 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279ED-E07D-4C83-8C38-0727427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108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F5B31-D412-4DF4-8760-25C37F3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Port or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F4F48-82C0-4874-9AE5-215A074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What it is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7A15B-F98F-4A8E-AB86-E6933BD9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Security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4C14D-5A49-443A-81DA-08C6FC3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D7AE1-7B2A-4018-8E52-5FDC9FB4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6379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EBDAE-0E68-4D17-B891-32676B3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67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head / GCS registration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AE827-5F2A-46CA-AA9E-5DB9D7B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 port; private lab network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3BBA6-8C69-4DF0-B770-36520E9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1C4F0-5184-42E2-BC75-F131A52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8265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321BB-02B3-4FB1-8503-1F5FCED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62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Dashboard and jobs 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8F97A-D592-46A3-B423-F61FB1C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Token/session guarded and not exposed to the internet.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64CA7-C77D-42CE-A238-2924D58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0E347-D6AC-430C-95E8-ED16352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10001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35E9D-EA53-418E-A2D9-915D255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Optional Ray client traffic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924E1-0A0C-4521-A399-4482581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57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Same private-network scope as the coordinator.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D2CAD-DB39-4D9A-B051-7A9813E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5F9B2-A25C-4E65-9165-DEE16A9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18075-18077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27639-9874-436B-944A-965212B1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worker callbacks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66D24-332B-46EC-A9AF-559B178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Used to verify bidirectional reachability before startup.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B4CC5-95F8-475E-B60C-6FEE664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24CE9-C580-4934-8A80-27A518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20000-29999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904A8-0B4C-4D82-B047-2B8FBE7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48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worker task 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7ADA0-3F01-4E8A-AAF8-72BA1A3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Inbound rules are scoped to coordinator/local subnet.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4F221-7EDA-4630-85D4-826D61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1DC59-5199-4939-A765-B30616D8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Key distinction: RayLab opens compute coordination, not SMB, AFP, OneDrive, SSH, or arbitrary file sharing.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96BB9-ED37-4B92-8B88-8FB9E12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2E31C-F1B0-4038-A76B-898475B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80847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F816A-9FF0-4ABE-9447-AB465B0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AF4D7-30AA-4DA8-AAFC-5825E96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security case is layered, not just a port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5DB53-BC4A-4DF2-B312-F90F5BC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C78E7-2EB5-472D-BCE4-771C345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answer to the security concern is not 'trust the open port'. It is: restrict who can reach it, keep the port list explicit, run work under a constrained account, and block startup when the network is wrong.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5F2D8-6EDA-4141-BBC3-32C0825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DAFC1-4A84-4686-9126-C5498F5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DF985-60E4-4020-8CB0-C2EF2E2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Fixed allowlist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D84B8-6B36-457F-A4AC-E42AC8A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uses known ports for head, dashboard, client, callback, and task traffic instead of leaving the network surface implicit.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72D05-644B-48CD-AB87-61A1DD6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7BF8C-D789-4BD2-8353-9CF691A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0405E-45C3-4665-BC83-656FEE9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Private network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6E477-B956-4AFD-831D-A4875A7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Firewall setup allows only the coordinator or local subnet. Public internet and broad campus exposure are out of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2A6D0-DD9C-4BCB-80FA-142C2B9C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2CB8F-B319-4C36-973D-07C5968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60F2A-5F03-4699-AC94-6C0D9C4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Dedicated worker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79BC1-A24E-4B7F-80E4-7D7A656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Worker jobs run under the RayLab worker identity, separating contributed compute from a participant's normal desktop profile.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A6954-808A-483E-BB45-4F15DC4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8835D-A966-4505-A7A6-9FFDE12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26AF5-1868-45E4-BC8D-7D08E6B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FE6D3-151F-47B1-82FB-3572856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Network checks verify the callback path before Ray starts, and setup/terminal logs show what was opened or changed.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E29FC-5673-4FD2-87F6-EB5F35A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6B853-52AC-4A12-BCC0-207EFF3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Positioning for colleagues: RayLab shares compute capacity, not personal folders. File access still follows the operating-system account, folder permissions, and explicit data paths chosen for the job.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5F5A6-7DBF-405C-9AAC-51DC47E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E080B-70DC-4571-8264-327DB0F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9089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2026-08-16T17:29:47.0920000Z</dcterms:created>
  <dcterms:modified xsi:type="dcterms:W3CDTF">2026-08-16T17:29:47.0920000Z</dcterms:modified>
</coreProperties>
</file>