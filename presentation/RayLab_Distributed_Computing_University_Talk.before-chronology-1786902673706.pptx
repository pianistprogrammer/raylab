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2864-E44B-B2DF-1615486D3C86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3-2864-E44B-B2DF-1615486D3C86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18.600000000000001</c:v>
              </c:pt>
              <c:pt idx="1">
                <c:v>15.1</c:v>
              </c:pt>
              <c:pt idx="2">
                <c:v>13.8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864-E44B-B2DF-1615486D3C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>
              <a:srgbClr val="0F766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1ADB-8044-82A6-6E0D5FEC30E0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3-1ADB-8044-82A6-6E0D5FEC30E0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6466.5885836829448</c:v>
              </c:pt>
              <c:pt idx="1">
                <c:v>7967.3724942072404</c:v>
              </c:pt>
              <c:pt idx="2">
                <c:v>8677.6421677631097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ADB-8044-82A6-6E0D5FEC30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Speedup</c:v>
          </c:tx>
          <c:spPr>
            <a:ln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563EB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096-4946-8B47-DD152F4B49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0F766E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0.93540000000000001</c:v>
              </c:pt>
              <c:pt idx="1">
                <c:v>0.9536</c:v>
              </c:pt>
              <c:pt idx="2">
                <c:v>0.95879999999999999</c:v>
              </c:pt>
              <c:pt idx="3">
                <c:v>0.96779999999999999</c:v>
              </c:pt>
              <c:pt idx="4">
                <c:v>0.96540000000000004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166E-FD45-8E77-C1F653D6A7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Test loss by round</c:v>
          </c:tx>
          <c:spPr>
            <a:ln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B45309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0.21920817413330079</c:v>
              </c:pt>
              <c:pt idx="1">
                <c:v>0.15223594779968261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1E9F-B64D-BC0C-580E916496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6DA9-AD44-8BE1-156471FD8BC2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3-6DA9-AD44-8BE1-156471FD8BC2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0F17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DA9-AD44-8BE1-156471FD8B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3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8E2E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263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project: RayDesktop / RayLab application and benchmark folder.</a:t>
            </a:r>
          </a:p>
          <a:p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documentation describes Ray as a framework for scaling Python and AI workloads across clusters: https://docs.ray.io/</a:t>
            </a:r>
          </a:p>
          <a:p>
            <a:r>
              <a:t>Benefits framed from local RayLab prototype behavior and benchmark results in benchmark/.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Core tasks and actors are the scheduling primitives described in Ray documentation: https://docs.ray.io/en/latest/ray-core/walkthrough.html</a:t>
            </a:r>
          </a:p>
          <a:p>
            <a:r>
              <a:t>RayLab host/join responsibilities are based on the local app UI and configuration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documentation describes Ray Core tasks/actors and Ray libraries for Train, Tune, Data, and Serve: https://docs.ray.io/</a:t>
            </a:r>
          </a:p>
          <a:p>
            <a:r>
              <a:t>Apache Spark project documentation describes Spark as a unified engine for large-scale data analytics: https://spark.apache.org/</a:t>
            </a:r>
          </a:p>
          <a:p>
            <a:r>
              <a:t>Dask documentation describes Dask as parallel computing in Python that scales arrays, dataframes, and custom workloads: https://docs.dask.org/</a:t>
            </a:r>
          </a:p>
          <a:p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>
            <a:r>
              <a:t>Celery documentation describes Celery as a distributed task queue: https://docs.celeryq.dev/</a:t>
            </a:r>
          </a:p>
          <a:p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image asset: /Users/I558118/Downloads/ChatGPT Image Aug 16, 2026, 09_31_55 AM.png.</a:t>
            </a:r>
          </a:p>
          <a:p>
            <a:r>
              <a:t>Visible slide uses the image as an illustrative framework ecosystem map; it is not treated as an instruction source.</a:t>
            </a:r>
          </a:p>
          <a:p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Ray CLI command structure source: Ray documentation for ray start and cluster startup: https://docs.ray.io/en/latest/cluster/cli.html</a:t>
            </a:r>
          </a:p>
          <a:p>
            <a:r>
              <a:t>Port choices mirror the local RayLab fixed-port configuration in electron/src/ray_control.js and docs/rollout.md.</a:t>
            </a:r>
          </a:p>
          <a:p>
            <a:r>
              <a:t>The slide intentionally shows normal Ray CLI usage without RayLab-specific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a mocked Electron bridge for presentation data: presentation/assets/raylab-host-mode.png</a:t>
            </a:r>
          </a:p>
          <a:p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a mocked Electron bridge for presentation data: presentation/assets/raylab-join-mode.png</a:t>
            </a:r>
          </a:p>
          <a:p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Screenshot captured from the local RayLab React frontend with mocked live cluster data: presentation/assets/raylab-cluster-graph.png</a:t>
            </a:r>
          </a:p>
          <a:p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Monte Carlo results source: benchmark/reports/monte-carlo-results.json and benchmark/README.md.</a:t>
            </a:r>
          </a:p>
          <a:p>
            <a:r>
              <a:t>MNIST CNN results source: benchmark/reports/mnist-cnn-ray-results.json and benchmark/reports/raylab-mnist-cnn-report.html.</a:t>
            </a:r>
          </a:p>
          <a:p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MNIST benchmark source data: benchmark/reports/mnist-cnn-ray-results.json.</a:t>
            </a:r>
          </a:p>
          <a:p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MNIST benchmark source data: benchmark/reports/mnist-cnn-ray-results.json.</a:t>
            </a:r>
          </a:p>
          <a:p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RayLab default port map source: electron/src/storage.js and frontend/src/store.ts.</a:t>
            </a:r>
          </a:p>
          <a:p>
            <a:r>
              <a:t>RayLab rollout port policy source: docs/rollout.md, especially the 'No public exposure' and port map sections.</a:t>
            </a:r>
          </a:p>
          <a:p>
            <a:r>
              <a:t>Ray startup arguments for fixed node manager, object manager, and worker port ranges source: electron/src/ray_control.js.</a:t>
            </a:r>
          </a:p>
          <a:p>
            <a:r>
              <a:t>Ray security guidance recommends controlled networks for Ray clusters: https://docs.ray.io/en/latest/ray-security/index.html.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Dedicated worker-account design source: docs/rollout.md and local setup behavior implemented in electron/src/setup_runner.js.</a:t>
            </a:r>
          </a:p>
          <a:p>
            <a:r>
              <a:t>Windows firewall rule scoping source: electron/src/setup_runner.js, which creates RayLab rules for coordinator/local-subnet access rather than unrestricted public access.</a:t>
            </a:r>
          </a:p>
          <a:p>
            <a:r>
              <a:t>Network preflight source: electron/src/network_preflight.js and electron/src/setup_runner.js.</a:t>
            </a:r>
          </a:p>
          <a:p>
            <a:r>
              <a:t>Ray security guidance notes that Ray should run in a controlled network environment: https://docs.ray.io/en/latest/ray-security/index.html.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Next steps synthesized from local RayLab prototype state and benchmark outcomes.</a:t>
            </a:r>
          </a:p>
          <a:p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RAYLAB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667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7524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proof-of-concept using Ray, a desktop app, and real benchmarks across Windows and macOS nodes.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7239000" cy="13335"/>
          </a:xfrm>
          <a:prstGeom prst="rect">
            <a:avLst/>
          </a:prstGeom>
          <a:solidFill>
            <a:srgbClr val="1D5F74"/>
          </a:solidFill>
          <a:ln w="0">
            <a:solidFill>
              <a:srgbClr val="1D5F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noGrp="1"/>
          </p:cNvSpPr>
          <p:nvPr/>
        </p:nvSpPr>
        <p:spPr>
          <a:xfrm>
            <a:off x="552450" y="55816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3733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476250"/>
          </a:xfrm>
          <a:prstGeom prst="rect">
            <a:avLst/>
          </a:prstGeom>
          <a:solidFill>
            <a:srgbClr val="E7EEF1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noGrp="1"/>
          </p:cNvSpPr>
          <p:nvPr/>
        </p:nvSpPr>
        <p:spPr>
          <a:xfrm>
            <a:off x="647700" y="19716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noGrp="1"/>
          </p:cNvSpPr>
          <p:nvPr/>
        </p:nvSpPr>
        <p:spPr>
          <a:xfrm>
            <a:off x="1504950" y="19716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noGrp="1"/>
          </p:cNvSpPr>
          <p:nvPr/>
        </p:nvSpPr>
        <p:spPr>
          <a:xfrm>
            <a:off x="647700" y="24479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noGrp="1"/>
          </p:cNvSpPr>
          <p:nvPr/>
        </p:nvSpPr>
        <p:spPr>
          <a:xfrm>
            <a:off x="1504950" y="24479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and RayLab organize machines into one cluster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noGrp="1"/>
          </p:cNvSpPr>
          <p:nvPr/>
        </p:nvSpPr>
        <p:spPr>
          <a:xfrm>
            <a:off x="552450" y="28384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noGrp="1"/>
          </p:cNvSpPr>
          <p:nvPr/>
        </p:nvSpPr>
        <p:spPr>
          <a:xfrm>
            <a:off x="647700" y="29241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noGrp="1"/>
          </p:cNvSpPr>
          <p:nvPr/>
        </p:nvSpPr>
        <p:spPr>
          <a:xfrm>
            <a:off x="1504950" y="29241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host mode and join mode look like in the desktop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noGrp="1"/>
          </p:cNvSpPr>
          <p:nvPr/>
        </p:nvSpPr>
        <p:spPr>
          <a:xfrm>
            <a:off x="647700" y="34004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noGrp="1"/>
          </p:cNvSpPr>
          <p:nvPr/>
        </p:nvSpPr>
        <p:spPr>
          <a:xfrm>
            <a:off x="1504950" y="34004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Similar tools, and why we chose Ray for this prototype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noGrp="1"/>
          </p:cNvSpPr>
          <p:nvPr/>
        </p:nvSpPr>
        <p:spPr>
          <a:xfrm>
            <a:off x="1504950" y="38766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common machine-learning frameworks connect to Ray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noGrp="1"/>
          </p:cNvSpPr>
          <p:nvPr/>
        </p:nvSpPr>
        <p:spPr>
          <a:xfrm>
            <a:off x="647700" y="435292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noGrp="1"/>
          </p:cNvSpPr>
          <p:nvPr/>
        </p:nvSpPr>
        <p:spPr>
          <a:xfrm>
            <a:off x="1504950" y="435292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we ran and what they proved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noGrp="1"/>
          </p:cNvSpPr>
          <p:nvPr/>
        </p:nvSpPr>
        <p:spPr>
          <a:xfrm>
            <a:off x="552450" y="4743450"/>
            <a:ext cx="11087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noGrp="1"/>
          </p:cNvSpPr>
          <p:nvPr/>
        </p:nvSpPr>
        <p:spPr>
          <a:xfrm>
            <a:off x="647700" y="48291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noGrp="1"/>
          </p:cNvSpPr>
          <p:nvPr/>
        </p:nvSpPr>
        <p:spPr>
          <a:xfrm>
            <a:off x="1504950" y="4829175"/>
            <a:ext cx="10058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try next as a lab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287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RayLab shows a path to turn that idle capacity into a shared compute surface without asking everyone to become a cluster administrator.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238500" cy="1790700"/>
          </a:xfrm>
          <a:prstGeom prst="rect">
            <a:avLst/>
          </a:prstGeom>
          <a:solidFill>
            <a:srgbClr val="EAF5F3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noGrp="1"/>
          </p:cNvSpPr>
          <p:nvPr/>
        </p:nvSpPr>
        <p:spPr>
          <a:xfrm>
            <a:off x="4267200" y="3333750"/>
            <a:ext cx="3238500" cy="1790700"/>
          </a:xfrm>
          <a:prstGeom prst="rect">
            <a:avLst/>
          </a:prstGeom>
          <a:solidFill>
            <a:srgbClr val="EDF2F4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noGrp="1"/>
          </p:cNvSpPr>
          <p:nvPr/>
        </p:nvSpPr>
        <p:spPr>
          <a:xfrm>
            <a:off x="445770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desktop host/join flow hides the operational details: ports, setup checks, worker accounts, Docker, and logs.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238500" cy="1790700"/>
          </a:xfrm>
          <a:prstGeom prst="rect">
            <a:avLst/>
          </a:prstGeom>
          <a:solidFill>
            <a:srgbClr val="EDF2F4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noGrp="1"/>
          </p:cNvSpPr>
          <p:nvPr/>
        </p:nvSpPr>
        <p:spPr>
          <a:xfrm>
            <a:off x="8172450" y="35623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noGrp="1"/>
          </p:cNvSpPr>
          <p:nvPr/>
        </p:nvSpPr>
        <p:spPr>
          <a:xfrm>
            <a:off x="8172450" y="4191443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RayLab separates orchestration from contribution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2762250" cy="1714500"/>
          </a:xfrm>
          <a:prstGeom prst="rect">
            <a:avLst/>
          </a:prstGeom>
          <a:solidFill>
            <a:srgbClr val="EAF5F3"/>
          </a:solidFill>
          <a:ln w="9525">
            <a:solidFill>
              <a:srgbClr val="A9D5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noGrp="1"/>
          </p:cNvSpPr>
          <p:nvPr/>
        </p:nvSpPr>
        <p:spPr>
          <a:xfrm>
            <a:off x="781050" y="24193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Runs the Ray head node, dashboard, job submission endpoint, and live cluster graph.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noGrp="1"/>
          </p:cNvSpPr>
          <p:nvPr/>
        </p:nvSpPr>
        <p:spPr>
          <a:xfrm>
            <a:off x="4514850" y="2512697"/>
            <a:ext cx="2762249" cy="1228721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noGrp="1"/>
          </p:cNvSpPr>
          <p:nvPr/>
        </p:nvSpPr>
        <p:spPr>
          <a:xfrm>
            <a:off x="4800601" y="2655573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noGrp="1"/>
          </p:cNvSpPr>
          <p:nvPr/>
        </p:nvSpPr>
        <p:spPr>
          <a:xfrm>
            <a:off x="4800601" y="3027048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tasks and actors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762250" cy="1714500"/>
          </a:xfrm>
          <a:prstGeom prst="rect">
            <a:avLst/>
          </a:prstGeom>
          <a:solidFill>
            <a:srgbClr val="EEF4FF"/>
          </a:solidFill>
          <a:ln w="9525">
            <a:solidFill>
              <a:srgbClr val="B8CC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noGrp="1"/>
          </p:cNvSpPr>
          <p:nvPr/>
        </p:nvSpPr>
        <p:spPr>
          <a:xfrm>
            <a:off x="8705850" y="24193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noGrp="1"/>
          </p:cNvSpPr>
          <p:nvPr/>
        </p:nvSpPr>
        <p:spPr>
          <a:xfrm>
            <a:off x="8705850" y="2914650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Offers local CPU, RAM, and GPU capacity under machine setup, schedule, and privacy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933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key design idea: each machine remains locally controlled, while Ray gives the group a shared programming model for distributed jobs.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10344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3157639"/>
            <a:ext cx="590550" cy="3141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noGrp="1"/>
          </p:cNvSpPr>
          <p:nvPr/>
        </p:nvSpPr>
        <p:spPr>
          <a:xfrm>
            <a:off x="1676400" y="30099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noGrp="1"/>
          </p:cNvSpPr>
          <p:nvPr/>
        </p:nvSpPr>
        <p:spPr>
          <a:xfrm>
            <a:off x="1676400" y="33718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noGrp="1"/>
          </p:cNvSpPr>
          <p:nvPr/>
        </p:nvSpPr>
        <p:spPr>
          <a:xfrm>
            <a:off x="1676400" y="38100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noGrp="1"/>
          </p:cNvSpPr>
          <p:nvPr/>
        </p:nvSpPr>
        <p:spPr>
          <a:xfrm>
            <a:off x="6115050" y="28194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noGrp="1"/>
          </p:cNvSpPr>
          <p:nvPr/>
        </p:nvSpPr>
        <p:spPr>
          <a:xfrm>
            <a:off x="6286500" y="30099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" name="Picture 4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3196590"/>
            <a:ext cx="590550" cy="2362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noGrp="1"/>
          </p:cNvSpPr>
          <p:nvPr/>
        </p:nvSpPr>
        <p:spPr>
          <a:xfrm>
            <a:off x="7239000" y="33718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noGrp="1"/>
          </p:cNvSpPr>
          <p:nvPr/>
        </p:nvSpPr>
        <p:spPr>
          <a:xfrm>
            <a:off x="7239000" y="38100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4" name="Picture 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8456" y="4781550"/>
            <a:ext cx="431938" cy="4191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noGrp="1"/>
          </p:cNvSpPr>
          <p:nvPr/>
        </p:nvSpPr>
        <p:spPr>
          <a:xfrm>
            <a:off x="1676400" y="50482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noGrp="1"/>
          </p:cNvSpPr>
          <p:nvPr/>
        </p:nvSpPr>
        <p:spPr>
          <a:xfrm>
            <a:off x="1676400" y="54864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noGrp="1"/>
          </p:cNvSpPr>
          <p:nvPr/>
        </p:nvSpPr>
        <p:spPr>
          <a:xfrm>
            <a:off x="6115050" y="449580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781050" cy="609600"/>
          </a:xfrm>
          <a:prstGeom prst="rect">
            <a:avLst/>
          </a:prstGeom>
          <a:solidFill>
            <a:srgbClr val="F8FAFB"/>
          </a:solidFill>
          <a:ln w="9525">
            <a:solidFill>
              <a:srgbClr val="D9E3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0" name="Picture 5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7475" y="4781550"/>
            <a:ext cx="419100" cy="419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noGrp="1"/>
          </p:cNvSpPr>
          <p:nvPr/>
        </p:nvSpPr>
        <p:spPr>
          <a:xfrm>
            <a:off x="7239000" y="4686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noGrp="1"/>
          </p:cNvSpPr>
          <p:nvPr/>
        </p:nvSpPr>
        <p:spPr>
          <a:xfrm>
            <a:off x="7239000" y="50482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noGrp="1"/>
          </p:cNvSpPr>
          <p:nvPr/>
        </p:nvSpPr>
        <p:spPr>
          <a:xfrm>
            <a:off x="7239000" y="54864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7268" y="1943100"/>
            <a:ext cx="7277464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20BCF38-8010-4F01-8D61-1632F66FDBE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CLI REFERENCE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14F01E-CC3C-4CB8-BDE9-D6D02E2DCE7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Starting and joining a Ray cluster from the CLI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BA82E9-24BF-4283-9950-36226C284004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111B7C-F1F1-4403-97D3-D2F13F7BF288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is the plain Ray workflow without RayLab: one machine starts the head node; each additional machine joins by pointing at the head IP and 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69317-E16C-41EC-A914-C3A5C79CE72D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Start the head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4E0012-06E2-4C49-B84E-F27A555D3008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once on the machine that coordinates the cluster.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9F802-27D8-4184-8D52-E46C19877670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 a worker node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3E390D-B3BD-44B5-B650-EEC11C1D6CDA}"/>
              </a:ext>
            </a:extLst>
          </p:cNvPr>
          <p:cNvSpPr>
            <a:spLocks noGrp="1"/>
          </p:cNvSpPr>
          <p:nvPr/>
        </p:nvSpPr>
        <p:spPr>
          <a:xfrm>
            <a:off x="6305550" y="30480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 each machine that contributes CPU/GPU resources.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3524250"/>
            <a:ext cx="5334000" cy="24384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3524250"/>
            <a:ext cx="5334000" cy="2438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C1D9A42-BF7A-4051-A647-BF1BFF4E416F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E64EF-9C37-4D07-9072-C129B982040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8748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Host mode turns one machine into the cluster coordinator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447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noGrp="1"/>
          </p:cNvSpPr>
          <p:nvPr/>
        </p:nvSpPr>
        <p:spPr>
          <a:xfrm>
            <a:off x="3219450" y="3295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noGrp="1"/>
          </p:cNvSpPr>
          <p:nvPr/>
        </p:nvSpPr>
        <p:spPr>
          <a:xfrm>
            <a:off x="3219450" y="36195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noGrp="1"/>
          </p:cNvSpPr>
          <p:nvPr/>
        </p:nvSpPr>
        <p:spPr>
          <a:xfrm>
            <a:off x="3219450" y="424815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6" name="Picture 23"/>
          <p:cNvPicPr>
            <a:picLocks noChangeAspect="1"/>
          </p:cNvPicPr>
          <p:nvPr/>
        </p:nvPicPr>
        <p:blipFill>
          <a:blip r:embed="rId3"/>
          <a:srcRect t="3622" b="3622"/>
          <a:stretch>
            <a:fillRect/>
          </a:stretch>
        </p:blipFill>
        <p:spPr>
          <a:xfrm>
            <a:off x="5334000" y="1790700"/>
            <a:ext cx="6096000" cy="3848100"/>
          </a:xfrm>
          <a:prstGeom prst="roundRect">
            <a:avLst>
              <a:gd name="adj" fmla="val 297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Picture 22"/>
          <p:cNvPicPr>
            <a:picLocks noChangeAspect="1"/>
          </p:cNvPicPr>
          <p:nvPr/>
        </p:nvPicPr>
        <p:blipFill>
          <a:blip r:embed="rId3"/>
          <a:srcRect t="4215" b="4215"/>
          <a:stretch>
            <a:fillRect/>
          </a:stretch>
        </p:blipFill>
        <p:spPr>
          <a:xfrm>
            <a:off x="552450" y="1790700"/>
            <a:ext cx="6572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noGrp="1"/>
          </p:cNvSpPr>
          <p:nvPr/>
        </p:nvSpPr>
        <p:spPr>
          <a:xfrm>
            <a:off x="7362825" y="1979694"/>
            <a:ext cx="4662598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noGrp="1"/>
          </p:cNvSpPr>
          <p:nvPr/>
        </p:nvSpPr>
        <p:spPr>
          <a:xfrm>
            <a:off x="7362825" y="424965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noGrp="1"/>
          </p:cNvSpPr>
          <p:nvPr/>
        </p:nvSpPr>
        <p:spPr>
          <a:xfrm>
            <a:off x="9153525" y="427823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noGrp="1"/>
          </p:cNvSpPr>
          <p:nvPr/>
        </p:nvSpPr>
        <p:spPr>
          <a:xfrm>
            <a:off x="9153525" y="4278231"/>
            <a:ext cx="1825625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noGrp="1"/>
          </p:cNvSpPr>
          <p:nvPr/>
        </p:nvSpPr>
        <p:spPr>
          <a:xfrm>
            <a:off x="11439525" y="424965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noGrp="1"/>
          </p:cNvSpPr>
          <p:nvPr/>
        </p:nvSpPr>
        <p:spPr>
          <a:xfrm>
            <a:off x="7362825" y="472590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noGrp="1"/>
          </p:cNvSpPr>
          <p:nvPr/>
        </p:nvSpPr>
        <p:spPr>
          <a:xfrm>
            <a:off x="9153525" y="475448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noGrp="1"/>
          </p:cNvSpPr>
          <p:nvPr/>
        </p:nvSpPr>
        <p:spPr>
          <a:xfrm>
            <a:off x="9153525" y="4754481"/>
            <a:ext cx="2190750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noGrp="1"/>
          </p:cNvSpPr>
          <p:nvPr/>
        </p:nvSpPr>
        <p:spPr>
          <a:xfrm>
            <a:off x="11439525" y="472590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noGrp="1"/>
          </p:cNvSpPr>
          <p:nvPr/>
        </p:nvSpPr>
        <p:spPr>
          <a:xfrm>
            <a:off x="7362825" y="5202156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noGrp="1"/>
          </p:cNvSpPr>
          <p:nvPr/>
        </p:nvSpPr>
        <p:spPr>
          <a:xfrm>
            <a:off x="9153525" y="5230731"/>
            <a:ext cx="2190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noGrp="1"/>
          </p:cNvSpPr>
          <p:nvPr/>
        </p:nvSpPr>
        <p:spPr>
          <a:xfrm>
            <a:off x="9153525" y="5230731"/>
            <a:ext cx="2190750" cy="171450"/>
          </a:xfrm>
          <a:prstGeom prst="rect">
            <a:avLst/>
          </a:prstGeom>
          <a:solidFill>
            <a:srgbClr val="2F9E67"/>
          </a:solidFill>
          <a:ln w="0">
            <a:solidFill>
              <a:srgbClr val="2F9E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noGrp="1"/>
          </p:cNvSpPr>
          <p:nvPr/>
        </p:nvSpPr>
        <p:spPr>
          <a:xfrm>
            <a:off x="11439525" y="5202156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3"/>
          <a:srcRect t="9498" b="9498"/>
          <a:stretch>
            <a:fillRect/>
          </a:stretch>
        </p:blipFill>
        <p:spPr>
          <a:xfrm>
            <a:off x="552450" y="1790700"/>
            <a:ext cx="7429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noGrp="1"/>
          </p:cNvSpPr>
          <p:nvPr/>
        </p:nvSpPr>
        <p:spPr>
          <a:xfrm>
            <a:off x="8572500" y="1924050"/>
            <a:ext cx="30670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noGrp="1"/>
          </p:cNvSpPr>
          <p:nvPr/>
        </p:nvSpPr>
        <p:spPr>
          <a:xfrm>
            <a:off x="8572500" y="4312253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noGrp="1"/>
          </p:cNvSpPr>
          <p:nvPr/>
        </p:nvSpPr>
        <p:spPr>
          <a:xfrm>
            <a:off x="8573829" y="4746551"/>
            <a:ext cx="3197742" cy="1181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noGrp="1"/>
          </p:cNvSpPr>
          <p:nvPr/>
        </p:nvSpPr>
        <p:spPr>
          <a:xfrm>
            <a:off x="552450" y="2781299"/>
            <a:ext cx="7198685" cy="2577509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7096125" cy="419100"/>
          </a:xfrm>
          <a:prstGeom prst="rect">
            <a:avLst/>
          </a:prstGeom>
          <a:solidFill>
            <a:srgbClr val="E7EEF1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noGrp="1"/>
          </p:cNvSpPr>
          <p:nvPr/>
        </p:nvSpPr>
        <p:spPr>
          <a:xfrm>
            <a:off x="2076450" y="2867025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noGrp="1"/>
          </p:cNvSpPr>
          <p:nvPr/>
        </p:nvSpPr>
        <p:spPr>
          <a:xfrm>
            <a:off x="4267200" y="286702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noGrp="1"/>
          </p:cNvSpPr>
          <p:nvPr/>
        </p:nvSpPr>
        <p:spPr>
          <a:xfrm>
            <a:off x="5791200" y="2867025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7096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noGrp="1"/>
          </p:cNvSpPr>
          <p:nvPr/>
        </p:nvSpPr>
        <p:spPr>
          <a:xfrm>
            <a:off x="2076450" y="32861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noGrp="1"/>
          </p:cNvSpPr>
          <p:nvPr/>
        </p:nvSpPr>
        <p:spPr>
          <a:xfrm>
            <a:off x="4267200" y="32861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noGrp="1"/>
          </p:cNvSpPr>
          <p:nvPr/>
        </p:nvSpPr>
        <p:spPr>
          <a:xfrm>
            <a:off x="5791200" y="32861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7096125" cy="542924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noGrp="1"/>
          </p:cNvSpPr>
          <p:nvPr/>
        </p:nvSpPr>
        <p:spPr>
          <a:xfrm>
            <a:off x="647700" y="37433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noGrp="1"/>
          </p:cNvSpPr>
          <p:nvPr/>
        </p:nvSpPr>
        <p:spPr>
          <a:xfrm>
            <a:off x="2076450" y="37433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noGrp="1"/>
          </p:cNvSpPr>
          <p:nvPr/>
        </p:nvSpPr>
        <p:spPr>
          <a:xfrm>
            <a:off x="4267200" y="37433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noGrp="1"/>
          </p:cNvSpPr>
          <p:nvPr/>
        </p:nvSpPr>
        <p:spPr>
          <a:xfrm>
            <a:off x="5791200" y="3743324"/>
            <a:ext cx="1857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noGrp="1"/>
          </p:cNvSpPr>
          <p:nvPr/>
        </p:nvSpPr>
        <p:spPr>
          <a:xfrm>
            <a:off x="552450" y="4114800"/>
            <a:ext cx="70961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noGrp="1"/>
          </p:cNvSpPr>
          <p:nvPr/>
        </p:nvSpPr>
        <p:spPr>
          <a:xfrm>
            <a:off x="647700" y="42005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noGrp="1"/>
          </p:cNvSpPr>
          <p:nvPr/>
        </p:nvSpPr>
        <p:spPr>
          <a:xfrm>
            <a:off x="2076450" y="42005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noGrp="1"/>
          </p:cNvSpPr>
          <p:nvPr/>
        </p:nvSpPr>
        <p:spPr>
          <a:xfrm>
            <a:off x="4267200" y="42005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noGrp="1"/>
          </p:cNvSpPr>
          <p:nvPr/>
        </p:nvSpPr>
        <p:spPr>
          <a:xfrm>
            <a:off x="5791200" y="42005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7096125" cy="546692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noGrp="1"/>
          </p:cNvSpPr>
          <p:nvPr/>
        </p:nvSpPr>
        <p:spPr>
          <a:xfrm>
            <a:off x="647700" y="46577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noGrp="1"/>
          </p:cNvSpPr>
          <p:nvPr/>
        </p:nvSpPr>
        <p:spPr>
          <a:xfrm>
            <a:off x="2076450" y="46577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noGrp="1"/>
          </p:cNvSpPr>
          <p:nvPr/>
        </p:nvSpPr>
        <p:spPr>
          <a:xfrm>
            <a:off x="4267200" y="4657725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noGrp="1"/>
          </p:cNvSpPr>
          <p:nvPr/>
        </p:nvSpPr>
        <p:spPr>
          <a:xfrm>
            <a:off x="5791200" y="4657725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4043473" cy="2000250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noGrp="1"/>
          </p:cNvSpPr>
          <p:nvPr/>
        </p:nvSpPr>
        <p:spPr>
          <a:xfrm>
            <a:off x="8137007" y="3355458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noGrp="1"/>
          </p:cNvSpPr>
          <p:nvPr/>
        </p:nvSpPr>
        <p:spPr>
          <a:xfrm>
            <a:off x="9429749" y="3414602"/>
            <a:ext cx="1809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noGrp="1"/>
          </p:cNvSpPr>
          <p:nvPr/>
        </p:nvSpPr>
        <p:spPr>
          <a:xfrm>
            <a:off x="9429749" y="3414602"/>
            <a:ext cx="1704181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noGrp="1"/>
          </p:cNvSpPr>
          <p:nvPr/>
        </p:nvSpPr>
        <p:spPr>
          <a:xfrm>
            <a:off x="11185007" y="3371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noGrp="1"/>
          </p:cNvSpPr>
          <p:nvPr/>
        </p:nvSpPr>
        <p:spPr>
          <a:xfrm>
            <a:off x="8137007" y="3926958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noGrp="1"/>
          </p:cNvSpPr>
          <p:nvPr/>
        </p:nvSpPr>
        <p:spPr>
          <a:xfrm>
            <a:off x="9429749" y="3986102"/>
            <a:ext cx="1809750" cy="171450"/>
          </a:xfrm>
          <a:prstGeom prst="rect">
            <a:avLst/>
          </a:prstGeom>
          <a:solidFill>
            <a:srgbClr val="E7EEF1"/>
          </a:solidFill>
          <a:ln w="0">
            <a:solidFill>
              <a:srgbClr val="E7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noGrp="1"/>
          </p:cNvSpPr>
          <p:nvPr/>
        </p:nvSpPr>
        <p:spPr>
          <a:xfrm>
            <a:off x="9429749" y="3986102"/>
            <a:ext cx="1011891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noGrp="1"/>
          </p:cNvSpPr>
          <p:nvPr/>
        </p:nvSpPr>
        <p:spPr>
          <a:xfrm>
            <a:off x="11185007" y="3940692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noGrp="1"/>
          </p:cNvSpPr>
          <p:nvPr/>
        </p:nvSpPr>
        <p:spPr>
          <a:xfrm>
            <a:off x="847725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55245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noGrp="1"/>
          </p:cNvSpPr>
          <p:nvPr/>
        </p:nvSpPr>
        <p:spPr>
          <a:xfrm>
            <a:off x="445770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noGrp="1"/>
          </p:cNvSpPr>
          <p:nvPr/>
        </p:nvSpPr>
        <p:spPr>
          <a:xfrm>
            <a:off x="445770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445770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noGrp="1"/>
          </p:cNvSpPr>
          <p:nvPr/>
        </p:nvSpPr>
        <p:spPr>
          <a:xfrm>
            <a:off x="8362950" y="28194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noGrp="1"/>
          </p:cNvSpPr>
          <p:nvPr/>
        </p:nvSpPr>
        <p:spPr>
          <a:xfrm>
            <a:off x="8362950" y="31051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8362950" y="3505200"/>
          <a:ext cx="3333750" cy="198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5245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noGrp="1"/>
          </p:cNvSpPr>
          <p:nvPr/>
        </p:nvSpPr>
        <p:spPr>
          <a:xfrm>
            <a:off x="445770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noGrp="1"/>
          </p:cNvSpPr>
          <p:nvPr/>
        </p:nvSpPr>
        <p:spPr>
          <a:xfrm>
            <a:off x="445770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445770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noGrp="1"/>
          </p:cNvSpPr>
          <p:nvPr/>
        </p:nvSpPr>
        <p:spPr>
          <a:xfrm>
            <a:off x="836295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8362950" y="3543300"/>
          <a:ext cx="3333750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noGrp="1"/>
          </p:cNvSpPr>
          <p:nvPr/>
        </p:nvSpPr>
        <p:spPr>
          <a:xfrm>
            <a:off x="8362950" y="55626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noGrp="1"/>
          </p:cNvSpPr>
          <p:nvPr/>
        </p:nvSpPr>
        <p:spPr>
          <a:xfrm>
            <a:off x="8362950" y="57721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noGrp="1"/>
          </p:cNvSpPr>
          <p:nvPr/>
        </p:nvSpPr>
        <p:spPr>
          <a:xfrm>
            <a:off x="8362950" y="5981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3F2FFF2-AA1E-4672-8D84-3AB632F5892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41EE3-C81E-45FB-9911-29234480FF8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ports are not personal file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9ADD2-8BBA-46F5-8E6D-19AAA85A871B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DB6BB-4901-406A-A6B7-8C7B639EA84F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treats ports as a narrow cluster-control channel. The app uses a fixed allowlist, private-network firewall scope, and a dedicated worker account so compute can be shared without turning a laptop into a file server.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279ED-E07D-4C83-8C38-072742726F33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1087100" cy="381000"/>
          </a:xfrm>
          <a:prstGeom prst="rect">
            <a:avLst/>
          </a:prstGeom>
          <a:solidFill>
            <a:srgbClr val="E7EEF1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F5B31-D412-4DF4-8760-25C37F3B96B2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Port or range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F4F48-82C0-4874-9AE5-215A07477258}"/>
              </a:ext>
            </a:extLst>
          </p:cNvPr>
          <p:cNvSpPr>
            <a:spLocks noGrp="1"/>
          </p:cNvSpPr>
          <p:nvPr/>
        </p:nvSpPr>
        <p:spPr>
          <a:xfrm>
            <a:off x="2647950" y="28860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What it is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7A15B-F98F-4A8E-AB86-E6933BD9126B}"/>
              </a:ext>
            </a:extLst>
          </p:cNvPr>
          <p:cNvSpPr>
            <a:spLocks noGrp="1"/>
          </p:cNvSpPr>
          <p:nvPr/>
        </p:nvSpPr>
        <p:spPr>
          <a:xfrm>
            <a:off x="6934200" y="28860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Security boundary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4C14D-5A49-443A-81DA-08C6FC3179C8}"/>
              </a:ext>
            </a:extLst>
          </p:cNvPr>
          <p:cNvSpPr>
            <a:spLocks noGrp="1"/>
          </p:cNvSpPr>
          <p:nvPr/>
        </p:nvSpPr>
        <p:spPr>
          <a:xfrm>
            <a:off x="552450" y="3162300"/>
            <a:ext cx="11087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0D7AE1-7B2A-4018-8E52-5FDC9FB4DBF8}"/>
              </a:ext>
            </a:extLst>
          </p:cNvPr>
          <p:cNvSpPr>
            <a:spLocks noGrp="1"/>
          </p:cNvSpPr>
          <p:nvPr/>
        </p:nvSpPr>
        <p:spPr>
          <a:xfrm>
            <a:off x="723900" y="32670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6379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EBDAE-0E68-4D17-B891-32676B3600E7}"/>
              </a:ext>
            </a:extLst>
          </p:cNvPr>
          <p:cNvSpPr>
            <a:spLocks noGrp="1"/>
          </p:cNvSpPr>
          <p:nvPr/>
        </p:nvSpPr>
        <p:spPr>
          <a:xfrm>
            <a:off x="2647950" y="32670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head / GCS registration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4AE827-5F2A-46CA-AA9E-5DB9D7BDAA33}"/>
              </a:ext>
            </a:extLst>
          </p:cNvPr>
          <p:cNvSpPr>
            <a:spLocks noGrp="1"/>
          </p:cNvSpPr>
          <p:nvPr/>
        </p:nvSpPr>
        <p:spPr>
          <a:xfrm>
            <a:off x="6934200" y="32670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 port; private lab network only.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3BBA6-8C69-4DF0-B770-36520E9D7FAB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11087100" cy="495300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F1C4F0-5184-42E2-BC75-F131A5290A25}"/>
              </a:ext>
            </a:extLst>
          </p:cNvPr>
          <p:cNvSpPr>
            <a:spLocks noGrp="1"/>
          </p:cNvSpPr>
          <p:nvPr/>
        </p:nvSpPr>
        <p:spPr>
          <a:xfrm>
            <a:off x="723900" y="37623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8265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4321BB-02B3-4FB1-8503-1F5FCEDCD9E9}"/>
              </a:ext>
            </a:extLst>
          </p:cNvPr>
          <p:cNvSpPr>
            <a:spLocks noGrp="1"/>
          </p:cNvSpPr>
          <p:nvPr/>
        </p:nvSpPr>
        <p:spPr>
          <a:xfrm>
            <a:off x="2647950" y="37623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Dashboard and jobs endpoint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58F97A-D592-46A3-B423-F61FB1C5B2C2}"/>
              </a:ext>
            </a:extLst>
          </p:cNvPr>
          <p:cNvSpPr>
            <a:spLocks noGrp="1"/>
          </p:cNvSpPr>
          <p:nvPr/>
        </p:nvSpPr>
        <p:spPr>
          <a:xfrm>
            <a:off x="6934200" y="37623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Token/session guarded and not exposed to the internet.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64CA7-C77D-42CE-A238-2924D585C4F2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11087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E0E347-D6AC-430C-95E8-ED16352F40F7}"/>
              </a:ext>
            </a:extLst>
          </p:cNvPr>
          <p:cNvSpPr>
            <a:spLocks noGrp="1"/>
          </p:cNvSpPr>
          <p:nvPr/>
        </p:nvSpPr>
        <p:spPr>
          <a:xfrm>
            <a:off x="723900" y="42576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10001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35E9D-EA53-418E-A2D9-915D2559BE43}"/>
              </a:ext>
            </a:extLst>
          </p:cNvPr>
          <p:cNvSpPr>
            <a:spLocks noGrp="1"/>
          </p:cNvSpPr>
          <p:nvPr/>
        </p:nvSpPr>
        <p:spPr>
          <a:xfrm>
            <a:off x="2647950" y="42576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Optional Ray client traffic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F924E1-0A0C-4521-A399-44825819E065}"/>
              </a:ext>
            </a:extLst>
          </p:cNvPr>
          <p:cNvSpPr>
            <a:spLocks noGrp="1"/>
          </p:cNvSpPr>
          <p:nvPr/>
        </p:nvSpPr>
        <p:spPr>
          <a:xfrm>
            <a:off x="6934200" y="42576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Same private-network scope as the coordinator.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D2CAD-DB39-4D9A-B051-7A9813E61089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11087100" cy="495300"/>
          </a:xfrm>
          <a:prstGeom prst="rect">
            <a:avLst/>
          </a:prstGeom>
          <a:solidFill>
            <a:srgbClr val="F8FAFB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95F9B2-A25C-4E65-9165-DEE16A945F0E}"/>
              </a:ext>
            </a:extLst>
          </p:cNvPr>
          <p:cNvSpPr>
            <a:spLocks noGrp="1"/>
          </p:cNvSpPr>
          <p:nvPr/>
        </p:nvSpPr>
        <p:spPr>
          <a:xfrm>
            <a:off x="723900" y="47529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18075-18077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A27639-9874-436B-944A-965212B12CD7}"/>
              </a:ext>
            </a:extLst>
          </p:cNvPr>
          <p:cNvSpPr>
            <a:spLocks noGrp="1"/>
          </p:cNvSpPr>
          <p:nvPr/>
        </p:nvSpPr>
        <p:spPr>
          <a:xfrm>
            <a:off x="2647950" y="47529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worker callbacks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266D24-332B-46EC-A9AF-559B17893916}"/>
              </a:ext>
            </a:extLst>
          </p:cNvPr>
          <p:cNvSpPr>
            <a:spLocks noGrp="1"/>
          </p:cNvSpPr>
          <p:nvPr/>
        </p:nvSpPr>
        <p:spPr>
          <a:xfrm>
            <a:off x="6934200" y="47529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Used to verify bidirectional reachability before startup.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3B4CC5-95F8-475E-B60C-6FEE6646E80A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024CE9-C580-4934-8A80-27A518AD60D4}"/>
              </a:ext>
            </a:extLst>
          </p:cNvPr>
          <p:cNvSpPr>
            <a:spLocks noGrp="1"/>
          </p:cNvSpPr>
          <p:nvPr/>
        </p:nvSpPr>
        <p:spPr>
          <a:xfrm>
            <a:off x="723900" y="52482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20000-29999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B904A8-0B4C-4D82-B047-2B8FBE7D4A6F}"/>
              </a:ext>
            </a:extLst>
          </p:cNvPr>
          <p:cNvSpPr>
            <a:spLocks noGrp="1"/>
          </p:cNvSpPr>
          <p:nvPr/>
        </p:nvSpPr>
        <p:spPr>
          <a:xfrm>
            <a:off x="2647950" y="52482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worker task ports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27ADA0-3F01-4E8A-AAF8-72BA1A347EB5}"/>
              </a:ext>
            </a:extLst>
          </p:cNvPr>
          <p:cNvSpPr>
            <a:spLocks noGrp="1"/>
          </p:cNvSpPr>
          <p:nvPr/>
        </p:nvSpPr>
        <p:spPr>
          <a:xfrm>
            <a:off x="6934200" y="52482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Inbound rules are scoped to coordinator/local subnet.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54F221-7EDA-4630-85D4-826D614CFE65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1087100" cy="323850"/>
          </a:xfrm>
          <a:prstGeom prst="rect">
            <a:avLst/>
          </a:prstGeom>
          <a:solidFill>
            <a:srgbClr val="EAF5F3"/>
          </a:solidFill>
          <a:ln w="9525">
            <a:solidFill>
              <a:srgbClr val="A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B1DC59-5199-4939-A765-B30616D858F9}"/>
              </a:ext>
            </a:extLst>
          </p:cNvPr>
          <p:cNvSpPr>
            <a:spLocks noGrp="1"/>
          </p:cNvSpPr>
          <p:nvPr/>
        </p:nvSpPr>
        <p:spPr>
          <a:xfrm>
            <a:off x="723900" y="5886450"/>
            <a:ext cx="10648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Key distinction: RayLab opens compute coordination, not SMB, AFP, OneDrive, SSH, or arbitrary file sharing.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96BB9-ED37-4B92-8B88-8FB9E125E903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12E31C-F1B0-4038-A76B-898475B5D8A2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08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C1F816A-9FF0-4ABE-9447-AB465B04A74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3AF4D7-30AA-4DA8-AAFC-5825E9674D7F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9620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security case is layered, not just a port number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D5DB53-BC4A-4DF2-B312-F90F5BCC103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1087100" cy="13335"/>
          </a:xfrm>
          <a:prstGeom prst="rect">
            <a:avLst/>
          </a:prstGeom>
          <a:solidFill>
            <a:srgbClr val="B8C4CA"/>
          </a:solidFill>
          <a:ln w="0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C78E7-2EB5-472D-BCE4-771C345EAAE6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answer to the security concern is not 'trust the open port'. It is: restrict who can reach it, keep the port list explicit, run work under a constrained account, and block startup when the network is wrong.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5F2D8-6EDA-4141-BBC3-32C082571398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5095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DAFC1-4A84-4686-9126-C5498F5A1CEE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DF985-60E4-4020-8CB0-C2EF2E2A8AAF}"/>
              </a:ext>
            </a:extLst>
          </p:cNvPr>
          <p:cNvSpPr>
            <a:spLocks noGrp="1"/>
          </p:cNvSpPr>
          <p:nvPr/>
        </p:nvSpPr>
        <p:spPr>
          <a:xfrm>
            <a:off x="1428750" y="30861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Fixed allowlist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D84B8-6B36-457F-A4AC-E42AC8AB2FF8}"/>
              </a:ext>
            </a:extLst>
          </p:cNvPr>
          <p:cNvSpPr>
            <a:spLocks noGrp="1"/>
          </p:cNvSpPr>
          <p:nvPr/>
        </p:nvSpPr>
        <p:spPr>
          <a:xfrm>
            <a:off x="1428750" y="34671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uses known ports for head, dashboard, client, callback, and task traffic instead of leaving the network surface implicit.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672D05-644B-48CD-AB87-61A1DD65ED33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5095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7BF8C-D789-4BD2-8353-9CF691A2BC24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0405E-45C3-4665-BC83-656FEE903B75}"/>
              </a:ext>
            </a:extLst>
          </p:cNvPr>
          <p:cNvSpPr>
            <a:spLocks noGrp="1"/>
          </p:cNvSpPr>
          <p:nvPr/>
        </p:nvSpPr>
        <p:spPr>
          <a:xfrm>
            <a:off x="7048500" y="30861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Private network 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6E477-B956-4AFD-831D-A4875A70E75B}"/>
              </a:ext>
            </a:extLst>
          </p:cNvPr>
          <p:cNvSpPr>
            <a:spLocks noGrp="1"/>
          </p:cNvSpPr>
          <p:nvPr/>
        </p:nvSpPr>
        <p:spPr>
          <a:xfrm>
            <a:off x="7048500" y="34671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Firewall setup allows only the coordinator or local subnet. Public internet and broad campus exposure are out of policy.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2A6D0-DD9C-4BCB-80FA-142C2B9CC78B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5095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C2CB8F-B319-4C36-973D-07C5968EE3D3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D60F2A-5F03-4699-AC94-6C0D9C46B151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Dedicated worker account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79BC1-A24E-4B7F-80E4-7D7A656A7B0D}"/>
              </a:ext>
            </a:extLst>
          </p:cNvPr>
          <p:cNvSpPr>
            <a:spLocks noGrp="1"/>
          </p:cNvSpPr>
          <p:nvPr/>
        </p:nvSpPr>
        <p:spPr>
          <a:xfrm>
            <a:off x="1428750" y="50673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Worker jobs run under the RayLab worker identity, separating contributed compute from a participant's normal desktop profile.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A6954-808A-483E-BB45-4F15DC427492}"/>
              </a:ext>
            </a:extLst>
          </p:cNvPr>
          <p:cNvSpPr>
            <a:spLocks noGrp="1"/>
          </p:cNvSpPr>
          <p:nvPr/>
        </p:nvSpPr>
        <p:spPr>
          <a:xfrm>
            <a:off x="6172200" y="4476750"/>
            <a:ext cx="5095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18835D-A966-4505-A7A6-9FFDE12E6A2E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E26AF5-1868-45E4-BC8D-7D08E6BF26EB}"/>
              </a:ext>
            </a:extLst>
          </p:cNvPr>
          <p:cNvSpPr>
            <a:spLocks noGrp="1"/>
          </p:cNvSpPr>
          <p:nvPr/>
        </p:nvSpPr>
        <p:spPr>
          <a:xfrm>
            <a:off x="7048500" y="46863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FE6D3-151F-47B1-82FB-3572856B6C9D}"/>
              </a:ext>
            </a:extLst>
          </p:cNvPr>
          <p:cNvSpPr>
            <a:spLocks noGrp="1"/>
          </p:cNvSpPr>
          <p:nvPr/>
        </p:nvSpPr>
        <p:spPr>
          <a:xfrm>
            <a:off x="7048500" y="50673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Network checks verify the callback path before Ray starts, and setup/terminal logs show what was opened or changed.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CE29FC-5673-4FD2-87F6-EB5F35ABFAC4}"/>
              </a:ext>
            </a:extLst>
          </p:cNvPr>
          <p:cNvSpPr>
            <a:spLocks noGrp="1"/>
          </p:cNvSpPr>
          <p:nvPr/>
        </p:nvSpPr>
        <p:spPr>
          <a:xfrm>
            <a:off x="552450" y="5924549"/>
            <a:ext cx="10715625" cy="533399"/>
          </a:xfrm>
          <a:prstGeom prst="rect">
            <a:avLst/>
          </a:prstGeom>
          <a:solidFill>
            <a:srgbClr val="EAF5F3"/>
          </a:solidFill>
          <a:ln w="9525">
            <a:solidFill>
              <a:srgbClr val="A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46B853-52AC-4A12-BCC0-207EFF322BBD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10648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dirty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Positioning for colleagues: </a:t>
            </a:r>
            <a:r>
              <a:rPr sz="1125" b="1" dirty="0" err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RayLab</a:t>
            </a:r>
            <a:r>
              <a:rPr sz="1125" b="1" dirty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 shares compute capacity, not personal folders. File access still follows the operating-system account, folder permissions, and explicit data paths chosen for the job.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8E080B-70DC-4571-8264-327DB0F74BD5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08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838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noGrp="1"/>
          </p:cNvSpPr>
          <p:nvPr/>
        </p:nvSpPr>
        <p:spPr>
          <a:xfrm>
            <a:off x="1238250" y="30861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noGrp="1"/>
          </p:cNvSpPr>
          <p:nvPr/>
        </p:nvSpPr>
        <p:spPr>
          <a:xfrm>
            <a:off x="1238250" y="34290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noGrp="1"/>
          </p:cNvSpPr>
          <p:nvPr/>
        </p:nvSpPr>
        <p:spPr>
          <a:xfrm>
            <a:off x="1238250" y="43053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noGrp="1"/>
          </p:cNvSpPr>
          <p:nvPr/>
        </p:nvSpPr>
        <p:spPr>
          <a:xfrm>
            <a:off x="1238250" y="51816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noGrp="1"/>
          </p:cNvSpPr>
          <p:nvPr/>
        </p:nvSpPr>
        <p:spPr>
          <a:xfrm>
            <a:off x="8203903" y="3533775"/>
            <a:ext cx="3523807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noGrp="1"/>
          </p:cNvSpPr>
          <p:nvPr/>
        </p:nvSpPr>
        <p:spPr>
          <a:xfrm>
            <a:off x="11068050" y="63627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2584</Words>
  <Application>Microsoft Macintosh PowerPoint</Application>
  <DocSecurity>0</DocSecurity>
  <PresentationFormat>Widescreen</PresentationFormat>
  <Paragraphs>274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Abimbola, Jerry</cp:lastModifiedBy>
  <cp:revision>1</cp:revision>
  <dcterms:created xsi:type="dcterms:W3CDTF">2026-08-16T17:36:59Z</dcterms:created>
  <dcterms:modified xsi:type="dcterms:W3CDTF">2026-08-16T17:47:26Z</dcterms:modified>
</cp:coreProperties>
</file>